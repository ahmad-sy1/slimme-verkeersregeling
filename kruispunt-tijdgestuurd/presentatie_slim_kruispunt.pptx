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e" id="{43483d6f-6370-c48e-0a6c-911203957a4e}">
          <p14:sldIdLst>
            <p14:sldId id="256"/>
          </p14:sldIdLst>
        </p14:section>
        <p14:section name="Het idee" id="{01933a5d-9643-48eb-7fc8-1ed4450f2d34}">
          <p14:sldIdLst>
            <p14:sldId id="257"/>
          </p14:sldIdLst>
        </p14:section>
        <p14:section name="Opbouw" id="{62ab94a4-5547-5de7-1d79-6d509fb53f7b}">
          <p14:sldIdLst>
            <p14:sldId id="258"/>
            <p14:sldId id="259"/>
          </p14:sldIdLst>
        </p14:section>
        <p14:section name="Werking" id="{bb957dc7-9df5-3878-a0ca-f9047daefcbc}">
          <p14:sldIdLst>
            <p14:sldId id="260"/>
            <p14:sldId id="261"/>
          </p14:sldIdLst>
        </p14:section>
        <p14:section name="Afsluiting" id="{28689927-bac5-c834-14a7-e0788e20b15a}">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Welkom. Wij hebben een slim kruispunt gebouwd: stoplichten die niet op een vaste timer werken, maar kijken waar auto's staan en daarop reageren. Alles draait op drie ESP32-microcontrollers die draadloos met elkaar praten via ESP-NOW.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probleem kent iedereen: je staat voor rood terwijl er op de andere weg niemand rijdt. Ons doel: alleen groen geven waar auto's staan, en zoveel mogelijk lichten tegelijk op groen zetten, zolang dat veilig is. Het systeem bestaat uit 8 stoplichten, 8 lichtsensoren en 3 ESP32's.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Het kruispunt heeft een hoofdweg met twee ingangen, A en B, tegenover elkaar, en een zijweg die de hoofdweg kruist. Elke ingang heeft twee stoplichten: links en rechts. Dat geeft 8 stoplichten, genummerd 1 tot en met 8. Bij elk stoplicht zit een LDR, een lichtsensor, die ziet of er een auto staat.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gebruiken drie ESP32's. De master zit op de hoofdweg en stuurt lichten 1, 2, 5 en 6 aan. Slave 1 doet de zijweg rechts, lichten 3 en 4, en slave 2 de zijweg links, lichten 7 en 8. De slaves sturen elke 200 milliseconden door welke sensoren een auto zien. De master beslist en stuurt terug welke lichten groen, geel of rood moeten. Dat gaat draadloos via ESP-NOW, zonder router.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Niet alle lichten mogen tegelijk groen, anders botsen auto's. Uit de opdracht volgen 24 veilige combinaties: één van vier lichten, acht van drie en vijftien van twee. De master leest alle sensoren, en kiest dan de grootste combinatie waarbij bij elk licht een auto staat. Die combinatie blijft groen zolang er auto's zijn, minimaal 3 en maximaal 8 seconden. Daarna geel, kort rood, en dan begint het opnieuw.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Een voorbeeld. Er staan auto's bij licht 1, 2, 4, 5 en 8. De master zoekt de grootste combinatie die past: dat is 1, 4, 5 en 8, vier lichten tegelijk groen. Licht 2 heeft ook een auto, maar mag niet tegelijk met 4 en 5 groen zijn. Die komt in de volgende ronde aan de beurt.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Waar staan we nu? De communicatie werkt, de pinout ligt vast en de logica is geschreven. Uitdagingen: de lichtsensoren moeten nog afgesteld worden, en GPIO12 is een speciale opstart-pin die problemen kan geven. Bij de eerste test bleven de lichten hangen. Volgende stap is testen op de maquette, de sensoren kalibreren en waar nodig pins omzetten. Vragen?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48640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926080"/>
            <a:ext cx="5486400" cy="91440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oud">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houd donker">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486400" cy="1371600"/>
          </a:xfrm>
          <a:prstGeom prst="rect">
            <a:avLst/>
          </a:prstGeom>
          <a:noFill/>
          <a:ln/>
        </p:spPr>
        <p:txBody>
          <a:bodyPr wrap="square" lIns="0" tIns="0" rIns="0" bIns="0" rtlCol="0" anchor="b"/>
          <a:lstStyle/>
          <a:p>
            <a:pPr algn="l" indent="0" marL="0">
              <a:buNone/>
            </a:pPr>
            <a:r>
              <a:rPr lang="en-US" sz="4400" b="1" dirty="0">
                <a:solidFill>
                  <a:schemeClr val="bg1"/>
                </a:solidFill>
              </a:rPr>
              <a:t>Slim Kruispunt</a:t>
            </a:r>
            <a:endParaRPr lang="en-US" sz="4400" dirty="0"/>
          </a:p>
        </p:txBody>
      </p:sp>
      <p:sp>
        <p:nvSpPr>
          <p:cNvPr id="3" name="Text 0"/>
          <p:cNvSpPr/>
          <p:nvPr>
            <p:ph idx="101" type="body" hasCustomPrompt="1"/>
          </p:nvPr>
        </p:nvSpPr>
        <p:spPr>
          <a:xfrm>
            <a:off x="548640" y="2926080"/>
            <a:ext cx="5486400" cy="914400"/>
          </a:xfrm>
          <a:prstGeom prst="rect">
            <a:avLst/>
          </a:prstGeom>
          <a:noFill/>
          <a:ln/>
        </p:spPr>
        <p:txBody>
          <a:bodyPr wrap="square" lIns="0" tIns="0" rIns="0" bIns="0" rtlCol="0" anchor="t"/>
          <a:lstStyle/>
          <a:p>
            <a:pPr indent="0" marL="0">
              <a:buNone/>
            </a:pPr>
            <a:r>
              <a:rPr lang="en-US" sz="1800" dirty="0">
                <a:solidFill>
                  <a:schemeClr val="accent5"/>
                </a:solidFill>
              </a:rPr>
              <a:t>Verkeerslichten die reageren op het verkeer — met 3 ESP32's en ESP-NOW</a:t>
            </a:r>
            <a:endParaRPr lang="en-US" sz="1800" dirty="0"/>
          </a:p>
        </p:txBody>
      </p:sp>
      <p:sp>
        <p:nvSpPr>
          <p:cNvPr id="4" name="Stoplicht"/>
          <p:cNvSpPr/>
          <p:nvPr/>
        </p:nvSpPr>
        <p:spPr>
          <a:xfrm>
            <a:off x="6766560" y="822960"/>
            <a:ext cx="1165860" cy="3108960"/>
          </a:xfrm>
          <a:prstGeom prst="roundRect">
            <a:avLst>
              <a:gd name="adj" fmla="val 15686"/>
            </a:avLst>
          </a:prstGeom>
          <a:solidFill>
            <a:schemeClr val="tx2"/>
          </a:solidFill>
          <a:ln w="12700">
            <a:solidFill>
              <a:schemeClr val="tx2"/>
            </a:solidFill>
            <a:prstDash val="solid"/>
          </a:ln>
        </p:spPr>
      </p:sp>
      <p:sp>
        <p:nvSpPr>
          <p:cNvPr id="5" name="Stoplicht lamp 1"/>
          <p:cNvSpPr/>
          <p:nvPr/>
        </p:nvSpPr>
        <p:spPr>
          <a:xfrm>
            <a:off x="6960870" y="1017270"/>
            <a:ext cx="777240" cy="777240"/>
          </a:xfrm>
          <a:prstGeom prst="ellipse">
            <a:avLst/>
          </a:prstGeom>
          <a:solidFill>
            <a:schemeClr val="accent1"/>
          </a:solidFill>
          <a:ln w="12700">
            <a:solidFill>
              <a:schemeClr val="accent1"/>
            </a:solidFill>
            <a:prstDash val="solid"/>
          </a:ln>
        </p:spPr>
      </p:sp>
      <p:sp>
        <p:nvSpPr>
          <p:cNvPr id="6" name="Stoplicht lamp 2"/>
          <p:cNvSpPr/>
          <p:nvPr/>
        </p:nvSpPr>
        <p:spPr>
          <a:xfrm>
            <a:off x="6960870" y="1988820"/>
            <a:ext cx="777240" cy="777240"/>
          </a:xfrm>
          <a:prstGeom prst="ellipse">
            <a:avLst/>
          </a:prstGeom>
          <a:solidFill>
            <a:schemeClr val="accent2"/>
          </a:solidFill>
          <a:ln w="12700">
            <a:solidFill>
              <a:schemeClr val="accent2"/>
            </a:solidFill>
            <a:prstDash val="solid"/>
          </a:ln>
        </p:spPr>
      </p:sp>
      <p:sp>
        <p:nvSpPr>
          <p:cNvPr id="7" name="Stoplicht lamp 3"/>
          <p:cNvSpPr/>
          <p:nvPr/>
        </p:nvSpPr>
        <p:spPr>
          <a:xfrm>
            <a:off x="6960870" y="2960370"/>
            <a:ext cx="777240" cy="777240"/>
          </a:xfrm>
          <a:prstGeom prst="ellipse">
            <a:avLst/>
          </a:prstGeom>
          <a:solidFill>
            <a:schemeClr val="accent3"/>
          </a:solidFill>
          <a:ln w="12700">
            <a:solidFill>
              <a:schemeClr val="accent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Waarom een slim kruispunt?</a:t>
            </a:r>
            <a:endParaRPr lang="en-US" sz="3200" dirty="0"/>
          </a:p>
        </p:txBody>
      </p:sp>
      <p:sp>
        <p:nvSpPr>
          <p:cNvPr id="3" name="Kaart Het probleem"/>
          <p:cNvSpPr/>
          <p:nvPr/>
        </p:nvSpPr>
        <p:spPr>
          <a:xfrm>
            <a:off x="457200" y="1234440"/>
            <a:ext cx="3977640" cy="1920240"/>
          </a:xfrm>
          <a:prstGeom prst="roundRect">
            <a:avLst>
              <a:gd name="adj" fmla="val 5714"/>
            </a:avLst>
          </a:prstGeom>
          <a:solidFill>
            <a:schemeClr val="bg2"/>
          </a:solidFill>
          <a:ln w="12700">
            <a:solidFill>
              <a:schemeClr val="bg2"/>
            </a:solidFill>
            <a:prstDash val="solid"/>
          </a:ln>
        </p:spPr>
      </p:sp>
      <p:sp>
        <p:nvSpPr>
          <p:cNvPr id="4" name="Lamp Het probleem"/>
          <p:cNvSpPr/>
          <p:nvPr/>
        </p:nvSpPr>
        <p:spPr>
          <a:xfrm>
            <a:off x="731520" y="1463040"/>
            <a:ext cx="411480" cy="411480"/>
          </a:xfrm>
          <a:prstGeom prst="ellipse">
            <a:avLst/>
          </a:prstGeom>
          <a:solidFill>
            <a:schemeClr val="accent1"/>
          </a:solidFill>
          <a:ln w="12700">
            <a:solidFill>
              <a:schemeClr val="accent1"/>
            </a:solidFill>
            <a:prstDash val="solid"/>
          </a:ln>
        </p:spPr>
      </p:sp>
      <p:sp>
        <p:nvSpPr>
          <p:cNvPr id="5" name="Text 3"/>
          <p:cNvSpPr txBox="1"/>
          <p:nvPr/>
        </p:nvSpPr>
        <p:spPr>
          <a:xfrm>
            <a:off x="1325880" y="1463040"/>
            <a:ext cx="2926080" cy="411480"/>
          </a:xfrm>
          <a:prstGeom prst="rect">
            <a:avLst/>
          </a:prstGeom>
          <a:noFill/>
          <a:ln/>
        </p:spPr>
        <p:txBody>
          <a:bodyPr wrap="square" lIns="0" tIns="0" rIns="0" bIns="0" rtlCol="0" anchor="ctr"/>
          <a:lstStyle/>
          <a:p>
            <a:pPr indent="0" marL="0">
              <a:buNone/>
            </a:pPr>
            <a:r>
              <a:rPr lang="en-US" sz="2000" b="1" dirty="0">
                <a:solidFill>
                  <a:schemeClr val="tx1"/>
                </a:solidFill>
              </a:rPr>
              <a:t>Het probleem</a:t>
            </a:r>
            <a:endParaRPr lang="en-US" sz="2000" dirty="0"/>
          </a:p>
        </p:txBody>
      </p:sp>
      <p:sp>
        <p:nvSpPr>
          <p:cNvPr id="6" name="Text 4"/>
          <p:cNvSpPr txBox="1"/>
          <p:nvPr/>
        </p:nvSpPr>
        <p:spPr>
          <a:xfrm>
            <a:off x="731520" y="2011680"/>
            <a:ext cx="3474720" cy="1005840"/>
          </a:xfrm>
          <a:prstGeom prst="rect">
            <a:avLst/>
          </a:prstGeom>
          <a:noFill/>
          <a:ln/>
        </p:spPr>
        <p:txBody>
          <a:bodyPr wrap="square" lIns="0" tIns="0" rIns="0" bIns="0" rtlCol="0" anchor="t"/>
          <a:lstStyle/>
          <a:p>
            <a:pPr indent="0" marL="0">
              <a:buNone/>
            </a:pPr>
            <a:r>
              <a:rPr lang="en-US" sz="1500" dirty="0">
                <a:solidFill>
                  <a:schemeClr val="tx2"/>
                </a:solidFill>
              </a:rPr>
              <a:t>Een gewoon stoplicht werkt met een vaste cyclus. Je staat te wachten voor rood terwijl de andere weg helemaal leeg is.</a:t>
            </a:r>
            <a:endParaRPr lang="en-US" sz="1500" dirty="0"/>
          </a:p>
        </p:txBody>
      </p:sp>
      <p:sp>
        <p:nvSpPr>
          <p:cNvPr id="7" name="Kaart Ons doel"/>
          <p:cNvSpPr/>
          <p:nvPr/>
        </p:nvSpPr>
        <p:spPr>
          <a:xfrm>
            <a:off x="4709160" y="1234440"/>
            <a:ext cx="3977640" cy="1920240"/>
          </a:xfrm>
          <a:prstGeom prst="roundRect">
            <a:avLst>
              <a:gd name="adj" fmla="val 5714"/>
            </a:avLst>
          </a:prstGeom>
          <a:solidFill>
            <a:schemeClr val="bg2"/>
          </a:solidFill>
          <a:ln w="12700">
            <a:solidFill>
              <a:schemeClr val="bg2"/>
            </a:solidFill>
            <a:prstDash val="solid"/>
          </a:ln>
        </p:spPr>
      </p:sp>
      <p:sp>
        <p:nvSpPr>
          <p:cNvPr id="8" name="Lamp Ons doel"/>
          <p:cNvSpPr/>
          <p:nvPr/>
        </p:nvSpPr>
        <p:spPr>
          <a:xfrm>
            <a:off x="4983480" y="1463040"/>
            <a:ext cx="411480" cy="411480"/>
          </a:xfrm>
          <a:prstGeom prst="ellipse">
            <a:avLst/>
          </a:prstGeom>
          <a:solidFill>
            <a:schemeClr val="accent3"/>
          </a:solidFill>
          <a:ln w="12700">
            <a:solidFill>
              <a:schemeClr val="accent3"/>
            </a:solidFill>
            <a:prstDash val="solid"/>
          </a:ln>
        </p:spPr>
      </p:sp>
      <p:sp>
        <p:nvSpPr>
          <p:cNvPr id="9" name="Text 7"/>
          <p:cNvSpPr txBox="1"/>
          <p:nvPr/>
        </p:nvSpPr>
        <p:spPr>
          <a:xfrm>
            <a:off x="5577840" y="1463040"/>
            <a:ext cx="2926080" cy="411480"/>
          </a:xfrm>
          <a:prstGeom prst="rect">
            <a:avLst/>
          </a:prstGeom>
          <a:noFill/>
          <a:ln/>
        </p:spPr>
        <p:txBody>
          <a:bodyPr wrap="square" lIns="0" tIns="0" rIns="0" bIns="0" rtlCol="0" anchor="ctr"/>
          <a:lstStyle/>
          <a:p>
            <a:pPr indent="0" marL="0">
              <a:buNone/>
            </a:pPr>
            <a:r>
              <a:rPr lang="en-US" sz="2000" b="1" dirty="0">
                <a:solidFill>
                  <a:schemeClr val="tx1"/>
                </a:solidFill>
              </a:rPr>
              <a:t>Ons doel</a:t>
            </a:r>
            <a:endParaRPr lang="en-US" sz="2000" dirty="0"/>
          </a:p>
        </p:txBody>
      </p:sp>
      <p:sp>
        <p:nvSpPr>
          <p:cNvPr id="10" name="Text 8"/>
          <p:cNvSpPr txBox="1"/>
          <p:nvPr/>
        </p:nvSpPr>
        <p:spPr>
          <a:xfrm>
            <a:off x="4983480" y="2011680"/>
            <a:ext cx="3474720" cy="1005840"/>
          </a:xfrm>
          <a:prstGeom prst="rect">
            <a:avLst/>
          </a:prstGeom>
          <a:noFill/>
          <a:ln/>
        </p:spPr>
        <p:txBody>
          <a:bodyPr wrap="square" lIns="0" tIns="0" rIns="0" bIns="0" rtlCol="0" anchor="t"/>
          <a:lstStyle/>
          <a:p>
            <a:pPr indent="0" marL="0">
              <a:buNone/>
            </a:pPr>
            <a:r>
              <a:rPr lang="en-US" sz="1500" dirty="0">
                <a:solidFill>
                  <a:schemeClr val="tx2"/>
                </a:solidFill>
              </a:rPr>
              <a:t>Alleen groen geven waar écht auto's staan — en zoveel mogelijk lichten tegelijk groen, zolang dat veilig kan.</a:t>
            </a:r>
            <a:endParaRPr lang="en-US" sz="1500" dirty="0"/>
          </a:p>
        </p:txBody>
      </p:sp>
      <p:sp>
        <p:nvSpPr>
          <p:cNvPr id="11" name="Text 9"/>
          <p:cNvSpPr txBox="1"/>
          <p:nvPr/>
        </p:nvSpPr>
        <p:spPr>
          <a:xfrm>
            <a:off x="457200" y="3383280"/>
            <a:ext cx="914400" cy="822960"/>
          </a:xfrm>
          <a:prstGeom prst="rect">
            <a:avLst/>
          </a:prstGeom>
          <a:noFill/>
          <a:ln/>
        </p:spPr>
        <p:txBody>
          <a:bodyPr wrap="square" lIns="0" tIns="0" rIns="0" bIns="0" rtlCol="0" anchor="ctr"/>
          <a:lstStyle/>
          <a:p>
            <a:pPr indent="0" marL="0">
              <a:buNone/>
            </a:pPr>
            <a:r>
              <a:rPr lang="en-US" sz="4800" b="1" dirty="0">
                <a:solidFill>
                  <a:schemeClr val="tx1"/>
                </a:solidFill>
              </a:rPr>
              <a:t>8</a:t>
            </a:r>
            <a:endParaRPr lang="en-US" sz="4800" dirty="0"/>
          </a:p>
        </p:txBody>
      </p:sp>
      <p:sp>
        <p:nvSpPr>
          <p:cNvPr id="12" name="Text 10"/>
          <p:cNvSpPr txBox="1"/>
          <p:nvPr/>
        </p:nvSpPr>
        <p:spPr>
          <a:xfrm>
            <a:off x="1371600" y="3383280"/>
            <a:ext cx="1737360" cy="822960"/>
          </a:xfrm>
          <a:prstGeom prst="rect">
            <a:avLst/>
          </a:prstGeom>
          <a:noFill/>
          <a:ln/>
        </p:spPr>
        <p:txBody>
          <a:bodyPr wrap="square" lIns="0" tIns="0" rIns="0" bIns="0" rtlCol="0" anchor="ctr"/>
          <a:lstStyle/>
          <a:p>
            <a:pPr indent="0" marL="0">
              <a:buNone/>
            </a:pPr>
            <a:r>
              <a:rPr lang="en-US" sz="1600" dirty="0">
                <a:solidFill>
                  <a:schemeClr val="accent6"/>
                </a:solidFill>
              </a:rPr>
              <a:t>stoplichten</a:t>
            </a:r>
            <a:endParaRPr lang="en-US" sz="1600" dirty="0"/>
          </a:p>
        </p:txBody>
      </p:sp>
      <p:sp>
        <p:nvSpPr>
          <p:cNvPr id="13" name="Text 11"/>
          <p:cNvSpPr txBox="1"/>
          <p:nvPr/>
        </p:nvSpPr>
        <p:spPr>
          <a:xfrm>
            <a:off x="3291840" y="3383280"/>
            <a:ext cx="914400" cy="822960"/>
          </a:xfrm>
          <a:prstGeom prst="rect">
            <a:avLst/>
          </a:prstGeom>
          <a:noFill/>
          <a:ln/>
        </p:spPr>
        <p:txBody>
          <a:bodyPr wrap="square" lIns="0" tIns="0" rIns="0" bIns="0" rtlCol="0" anchor="ctr"/>
          <a:lstStyle/>
          <a:p>
            <a:pPr indent="0" marL="0">
              <a:buNone/>
            </a:pPr>
            <a:r>
              <a:rPr lang="en-US" sz="4800" b="1" dirty="0">
                <a:solidFill>
                  <a:schemeClr val="tx1"/>
                </a:solidFill>
              </a:rPr>
              <a:t>8</a:t>
            </a:r>
            <a:endParaRPr lang="en-US" sz="4800" dirty="0"/>
          </a:p>
        </p:txBody>
      </p:sp>
      <p:sp>
        <p:nvSpPr>
          <p:cNvPr id="14" name="Text 12"/>
          <p:cNvSpPr txBox="1"/>
          <p:nvPr/>
        </p:nvSpPr>
        <p:spPr>
          <a:xfrm>
            <a:off x="4206240" y="3383280"/>
            <a:ext cx="1737360" cy="822960"/>
          </a:xfrm>
          <a:prstGeom prst="rect">
            <a:avLst/>
          </a:prstGeom>
          <a:noFill/>
          <a:ln/>
        </p:spPr>
        <p:txBody>
          <a:bodyPr wrap="square" lIns="0" tIns="0" rIns="0" bIns="0" rtlCol="0" anchor="ctr"/>
          <a:lstStyle/>
          <a:p>
            <a:pPr indent="0" marL="0">
              <a:buNone/>
            </a:pPr>
            <a:r>
              <a:rPr lang="en-US" sz="1600" dirty="0">
                <a:solidFill>
                  <a:schemeClr val="accent6"/>
                </a:solidFill>
              </a:rPr>
              <a:t>LDR-sensoren</a:t>
            </a:r>
            <a:endParaRPr lang="en-US" sz="1600" dirty="0"/>
          </a:p>
        </p:txBody>
      </p:sp>
      <p:sp>
        <p:nvSpPr>
          <p:cNvPr id="15" name="Text 13"/>
          <p:cNvSpPr txBox="1"/>
          <p:nvPr/>
        </p:nvSpPr>
        <p:spPr>
          <a:xfrm>
            <a:off x="6126480" y="3383280"/>
            <a:ext cx="914400" cy="822960"/>
          </a:xfrm>
          <a:prstGeom prst="rect">
            <a:avLst/>
          </a:prstGeom>
          <a:noFill/>
          <a:ln/>
        </p:spPr>
        <p:txBody>
          <a:bodyPr wrap="square" lIns="0" tIns="0" rIns="0" bIns="0" rtlCol="0" anchor="ctr"/>
          <a:lstStyle/>
          <a:p>
            <a:pPr indent="0" marL="0">
              <a:buNone/>
            </a:pPr>
            <a:r>
              <a:rPr lang="en-US" sz="4800" b="1" dirty="0">
                <a:solidFill>
                  <a:schemeClr val="tx1"/>
                </a:solidFill>
              </a:rPr>
              <a:t>3</a:t>
            </a:r>
            <a:endParaRPr lang="en-US" sz="4800" dirty="0"/>
          </a:p>
        </p:txBody>
      </p:sp>
      <p:sp>
        <p:nvSpPr>
          <p:cNvPr id="16" name="Text 14"/>
          <p:cNvSpPr txBox="1"/>
          <p:nvPr/>
        </p:nvSpPr>
        <p:spPr>
          <a:xfrm>
            <a:off x="7040880" y="3383280"/>
            <a:ext cx="1737360" cy="822960"/>
          </a:xfrm>
          <a:prstGeom prst="rect">
            <a:avLst/>
          </a:prstGeom>
          <a:noFill/>
          <a:ln/>
        </p:spPr>
        <p:txBody>
          <a:bodyPr wrap="square" lIns="0" tIns="0" rIns="0" bIns="0" rtlCol="0" anchor="ctr"/>
          <a:lstStyle/>
          <a:p>
            <a:pPr indent="0" marL="0">
              <a:buNone/>
            </a:pPr>
            <a:r>
              <a:rPr lang="en-US" sz="1600" dirty="0">
                <a:solidFill>
                  <a:schemeClr val="accent6"/>
                </a:solidFill>
              </a:rPr>
              <a:t>ESP32's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Het kruispunt</a:t>
            </a:r>
            <a:endParaRPr lang="en-US" sz="3200" dirty="0"/>
          </a:p>
        </p:txBody>
      </p:sp>
      <p:sp>
        <p:nvSpPr>
          <p:cNvPr id="3" name="Hoofdweg"/>
          <p:cNvSpPr/>
          <p:nvPr/>
        </p:nvSpPr>
        <p:spPr>
          <a:xfrm>
            <a:off x="457200" y="2377440"/>
            <a:ext cx="4572000" cy="1143000"/>
          </a:xfrm>
          <a:prstGeom prst="rect">
            <a:avLst/>
          </a:prstGeom>
          <a:solidFill>
            <a:schemeClr val="tx2"/>
          </a:solidFill>
          <a:ln w="12700">
            <a:solidFill>
              <a:schemeClr val="tx2"/>
            </a:solidFill>
            <a:prstDash val="solid"/>
          </a:ln>
        </p:spPr>
      </p:sp>
      <p:sp>
        <p:nvSpPr>
          <p:cNvPr id="4" name="Zijweg"/>
          <p:cNvSpPr/>
          <p:nvPr/>
        </p:nvSpPr>
        <p:spPr>
          <a:xfrm>
            <a:off x="2171700" y="1188720"/>
            <a:ext cx="1143000" cy="3566160"/>
          </a:xfrm>
          <a:prstGeom prst="rect">
            <a:avLst/>
          </a:prstGeom>
          <a:solidFill>
            <a:schemeClr val="tx2"/>
          </a:solidFill>
          <a:ln w="12700">
            <a:solidFill>
              <a:schemeClr val="tx2"/>
            </a:solidFill>
            <a:prstDash val="solid"/>
          </a:ln>
        </p:spPr>
      </p:sp>
      <p:sp>
        <p:nvSpPr>
          <p:cNvPr id="5" name="Licht 5"/>
          <p:cNvSpPr/>
          <p:nvPr/>
        </p:nvSpPr>
        <p:spPr>
          <a:xfrm>
            <a:off x="1188720" y="2468880"/>
            <a:ext cx="384048" cy="384048"/>
          </a:xfrm>
          <a:prstGeom prst="ellipse">
            <a:avLst/>
          </a:prstGeom>
          <a:solidFill>
            <a:schemeClr val="accent5"/>
          </a:solidFill>
          <a:ln w="12700">
            <a:solidFill>
              <a:schemeClr val="accent5"/>
            </a:solidFill>
            <a:prstDash val="solid"/>
          </a:ln>
        </p:spPr>
      </p:sp>
      <p:sp>
        <p:nvSpPr>
          <p:cNvPr id="6" name="Text 4"/>
          <p:cNvSpPr txBox="1"/>
          <p:nvPr/>
        </p:nvSpPr>
        <p:spPr>
          <a:xfrm>
            <a:off x="1188720" y="2468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7" name="Licht 6"/>
          <p:cNvSpPr/>
          <p:nvPr/>
        </p:nvSpPr>
        <p:spPr>
          <a:xfrm>
            <a:off x="1188720" y="3044952"/>
            <a:ext cx="384048" cy="384048"/>
          </a:xfrm>
          <a:prstGeom prst="ellipse">
            <a:avLst/>
          </a:prstGeom>
          <a:solidFill>
            <a:schemeClr val="accent5"/>
          </a:solidFill>
          <a:ln w="12700">
            <a:solidFill>
              <a:schemeClr val="accent5"/>
            </a:solidFill>
            <a:prstDash val="solid"/>
          </a:ln>
        </p:spPr>
      </p:sp>
      <p:sp>
        <p:nvSpPr>
          <p:cNvPr id="8" name="Text 6"/>
          <p:cNvSpPr txBox="1"/>
          <p:nvPr/>
        </p:nvSpPr>
        <p:spPr>
          <a:xfrm>
            <a:off x="1188720" y="304495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9" name="Licht 1"/>
          <p:cNvSpPr/>
          <p:nvPr/>
        </p:nvSpPr>
        <p:spPr>
          <a:xfrm>
            <a:off x="3931920" y="2468880"/>
            <a:ext cx="384048" cy="384048"/>
          </a:xfrm>
          <a:prstGeom prst="ellipse">
            <a:avLst/>
          </a:prstGeom>
          <a:solidFill>
            <a:schemeClr val="accent5"/>
          </a:solidFill>
          <a:ln w="12700">
            <a:solidFill>
              <a:schemeClr val="accent5"/>
            </a:solidFill>
            <a:prstDash val="solid"/>
          </a:ln>
        </p:spPr>
      </p:sp>
      <p:sp>
        <p:nvSpPr>
          <p:cNvPr id="10" name="Text 8"/>
          <p:cNvSpPr txBox="1"/>
          <p:nvPr/>
        </p:nvSpPr>
        <p:spPr>
          <a:xfrm>
            <a:off x="3931920" y="246888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1" name="Licht 2"/>
          <p:cNvSpPr/>
          <p:nvPr/>
        </p:nvSpPr>
        <p:spPr>
          <a:xfrm>
            <a:off x="3931920" y="3044952"/>
            <a:ext cx="384048" cy="384048"/>
          </a:xfrm>
          <a:prstGeom prst="ellipse">
            <a:avLst/>
          </a:prstGeom>
          <a:solidFill>
            <a:schemeClr val="accent5"/>
          </a:solidFill>
          <a:ln w="12700">
            <a:solidFill>
              <a:schemeClr val="accent5"/>
            </a:solidFill>
            <a:prstDash val="solid"/>
          </a:ln>
        </p:spPr>
      </p:sp>
      <p:sp>
        <p:nvSpPr>
          <p:cNvPr id="12" name="Text 10"/>
          <p:cNvSpPr txBox="1"/>
          <p:nvPr/>
        </p:nvSpPr>
        <p:spPr>
          <a:xfrm>
            <a:off x="3931920" y="3044952"/>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3" name="Licht 3"/>
          <p:cNvSpPr/>
          <p:nvPr/>
        </p:nvSpPr>
        <p:spPr>
          <a:xfrm>
            <a:off x="2286000" y="1417320"/>
            <a:ext cx="384048" cy="384048"/>
          </a:xfrm>
          <a:prstGeom prst="ellipse">
            <a:avLst/>
          </a:prstGeom>
          <a:solidFill>
            <a:schemeClr val="accent5"/>
          </a:solidFill>
          <a:ln w="12700">
            <a:solidFill>
              <a:schemeClr val="accent5"/>
            </a:solidFill>
            <a:prstDash val="solid"/>
          </a:ln>
        </p:spPr>
      </p:sp>
      <p:sp>
        <p:nvSpPr>
          <p:cNvPr id="14" name="Text 12"/>
          <p:cNvSpPr txBox="1"/>
          <p:nvPr/>
        </p:nvSpPr>
        <p:spPr>
          <a:xfrm>
            <a:off x="2286000" y="1417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5" name="Licht 4"/>
          <p:cNvSpPr/>
          <p:nvPr/>
        </p:nvSpPr>
        <p:spPr>
          <a:xfrm>
            <a:off x="2816352" y="1417320"/>
            <a:ext cx="384048" cy="384048"/>
          </a:xfrm>
          <a:prstGeom prst="ellipse">
            <a:avLst/>
          </a:prstGeom>
          <a:solidFill>
            <a:schemeClr val="accent5"/>
          </a:solidFill>
          <a:ln w="12700">
            <a:solidFill>
              <a:schemeClr val="accent5"/>
            </a:solidFill>
            <a:prstDash val="solid"/>
          </a:ln>
        </p:spPr>
      </p:sp>
      <p:sp>
        <p:nvSpPr>
          <p:cNvPr id="16" name="Text 14"/>
          <p:cNvSpPr txBox="1"/>
          <p:nvPr/>
        </p:nvSpPr>
        <p:spPr>
          <a:xfrm>
            <a:off x="2816352" y="141732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7" name="Licht 7"/>
          <p:cNvSpPr/>
          <p:nvPr/>
        </p:nvSpPr>
        <p:spPr>
          <a:xfrm>
            <a:off x="2286000" y="4114800"/>
            <a:ext cx="384048" cy="384048"/>
          </a:xfrm>
          <a:prstGeom prst="ellipse">
            <a:avLst/>
          </a:prstGeom>
          <a:solidFill>
            <a:schemeClr val="accent5"/>
          </a:solidFill>
          <a:ln w="12700">
            <a:solidFill>
              <a:schemeClr val="accent5"/>
            </a:solidFill>
            <a:prstDash val="solid"/>
          </a:ln>
        </p:spPr>
      </p:sp>
      <p:sp>
        <p:nvSpPr>
          <p:cNvPr id="18" name="Text 16"/>
          <p:cNvSpPr txBox="1"/>
          <p:nvPr/>
        </p:nvSpPr>
        <p:spPr>
          <a:xfrm>
            <a:off x="2286000" y="4114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9" name="Licht 8"/>
          <p:cNvSpPr/>
          <p:nvPr/>
        </p:nvSpPr>
        <p:spPr>
          <a:xfrm>
            <a:off x="2816352" y="4114800"/>
            <a:ext cx="384048" cy="384048"/>
          </a:xfrm>
          <a:prstGeom prst="ellipse">
            <a:avLst/>
          </a:prstGeom>
          <a:solidFill>
            <a:schemeClr val="accent5"/>
          </a:solidFill>
          <a:ln w="12700">
            <a:solidFill>
              <a:schemeClr val="accent5"/>
            </a:solidFill>
            <a:prstDash val="solid"/>
          </a:ln>
        </p:spPr>
      </p:sp>
      <p:sp>
        <p:nvSpPr>
          <p:cNvPr id="20" name="Text 18"/>
          <p:cNvSpPr txBox="1"/>
          <p:nvPr/>
        </p:nvSpPr>
        <p:spPr>
          <a:xfrm>
            <a:off x="2816352" y="4114800"/>
            <a:ext cx="384048" cy="384048"/>
          </a:xfrm>
          <a:prstGeom prst="rect">
            <a:avLst/>
          </a:prstGeom>
          <a:noFill/>
          <a:ln/>
        </p:spPr>
        <p:txBody>
          <a:bodyPr wrap="square" lIns="0" tIns="0" rIns="0" bIns="0" rtlCol="0" anchor="ctr"/>
          <a:lstStyle/>
          <a:p>
            <a:pPr algn="ctr" indent="0" marL="0">
              <a:buNone/>
            </a:pPr>
            <a:r>
              <a:rPr lang="en-US" sz="1300" b="1" dirty="0">
                <a:solidFill>
                  <a:schemeClr val="tx1"/>
                </a:solidFill>
              </a:rPr>
              <a:t>8</a:t>
            </a:r>
            <a:endParaRPr lang="en-US" sz="1300" dirty="0"/>
          </a:p>
        </p:txBody>
      </p:sp>
      <p:sp>
        <p:nvSpPr>
          <p:cNvPr id="21" name="Text 19"/>
          <p:cNvSpPr txBox="1"/>
          <p:nvPr/>
        </p:nvSpPr>
        <p:spPr>
          <a:xfrm>
            <a:off x="457200" y="2011680"/>
            <a:ext cx="1645920" cy="320040"/>
          </a:xfrm>
          <a:prstGeom prst="rect">
            <a:avLst/>
          </a:prstGeom>
          <a:noFill/>
          <a:ln/>
        </p:spPr>
        <p:txBody>
          <a:bodyPr wrap="square" lIns="0" tIns="0" rIns="0" bIns="0" rtlCol="0" anchor="ctr"/>
          <a:lstStyle/>
          <a:p>
            <a:pPr algn="l" indent="0" marL="0">
              <a:buNone/>
            </a:pPr>
            <a:r>
              <a:rPr lang="en-US" sz="1300" b="1" dirty="0">
                <a:solidFill>
                  <a:schemeClr val="tx2"/>
                </a:solidFill>
              </a:rPr>
              <a:t>Hoofdweg A</a:t>
            </a:r>
            <a:endParaRPr lang="en-US" sz="1300" dirty="0"/>
          </a:p>
        </p:txBody>
      </p:sp>
      <p:sp>
        <p:nvSpPr>
          <p:cNvPr id="22" name="Text 20"/>
          <p:cNvSpPr txBox="1"/>
          <p:nvPr/>
        </p:nvSpPr>
        <p:spPr>
          <a:xfrm>
            <a:off x="3383280" y="2011680"/>
            <a:ext cx="1645920" cy="320040"/>
          </a:xfrm>
          <a:prstGeom prst="rect">
            <a:avLst/>
          </a:prstGeom>
          <a:noFill/>
          <a:ln/>
        </p:spPr>
        <p:txBody>
          <a:bodyPr wrap="square" lIns="0" tIns="0" rIns="0" bIns="0" rtlCol="0" anchor="ctr"/>
          <a:lstStyle/>
          <a:p>
            <a:pPr algn="r" indent="0" marL="0">
              <a:buNone/>
            </a:pPr>
            <a:r>
              <a:rPr lang="en-US" sz="1300" b="1" dirty="0">
                <a:solidFill>
                  <a:schemeClr val="tx2"/>
                </a:solidFill>
              </a:rPr>
              <a:t>Hoofdweg B</a:t>
            </a:r>
            <a:endParaRPr lang="en-US" sz="1300" dirty="0"/>
          </a:p>
        </p:txBody>
      </p:sp>
      <p:sp>
        <p:nvSpPr>
          <p:cNvPr id="23" name="Text 21"/>
          <p:cNvSpPr txBox="1"/>
          <p:nvPr/>
        </p:nvSpPr>
        <p:spPr>
          <a:xfrm>
            <a:off x="3429000" y="1280160"/>
            <a:ext cx="1600200" cy="320040"/>
          </a:xfrm>
          <a:prstGeom prst="rect">
            <a:avLst/>
          </a:prstGeom>
          <a:noFill/>
          <a:ln/>
        </p:spPr>
        <p:txBody>
          <a:bodyPr wrap="square" lIns="0" tIns="0" rIns="0" bIns="0" rtlCol="0" anchor="ctr"/>
          <a:lstStyle/>
          <a:p>
            <a:pPr algn="l" indent="0" marL="0">
              <a:buNone/>
            </a:pPr>
            <a:r>
              <a:rPr lang="en-US" sz="1300" b="1" dirty="0">
                <a:solidFill>
                  <a:schemeClr val="tx2"/>
                </a:solidFill>
              </a:rPr>
              <a:t>Zijweg rechts</a:t>
            </a:r>
            <a:endParaRPr lang="en-US" sz="1300" dirty="0"/>
          </a:p>
        </p:txBody>
      </p:sp>
      <p:sp>
        <p:nvSpPr>
          <p:cNvPr id="24" name="Text 22"/>
          <p:cNvSpPr txBox="1"/>
          <p:nvPr/>
        </p:nvSpPr>
        <p:spPr>
          <a:xfrm>
            <a:off x="3429000" y="4160520"/>
            <a:ext cx="1600200" cy="320040"/>
          </a:xfrm>
          <a:prstGeom prst="rect">
            <a:avLst/>
          </a:prstGeom>
          <a:noFill/>
          <a:ln/>
        </p:spPr>
        <p:txBody>
          <a:bodyPr wrap="square" lIns="0" tIns="0" rIns="0" bIns="0" rtlCol="0" anchor="ctr"/>
          <a:lstStyle/>
          <a:p>
            <a:pPr algn="l" indent="0" marL="0">
              <a:buNone/>
            </a:pPr>
            <a:r>
              <a:rPr lang="en-US" sz="1300" b="1" dirty="0">
                <a:solidFill>
                  <a:schemeClr val="tx2"/>
                </a:solidFill>
              </a:rPr>
              <a:t>Zijweg links</a:t>
            </a:r>
            <a:endParaRPr lang="en-US" sz="1300" dirty="0"/>
          </a:p>
        </p:txBody>
      </p:sp>
      <p:sp>
        <p:nvSpPr>
          <p:cNvPr id="25" name="Text 23"/>
          <p:cNvSpPr txBox="1"/>
          <p:nvPr/>
        </p:nvSpPr>
        <p:spPr>
          <a:xfrm>
            <a:off x="457200" y="4480560"/>
            <a:ext cx="1371600" cy="274320"/>
          </a:xfrm>
          <a:prstGeom prst="rect">
            <a:avLst/>
          </a:prstGeom>
          <a:noFill/>
          <a:ln/>
        </p:spPr>
        <p:txBody>
          <a:bodyPr wrap="square" lIns="0" tIns="0" rIns="0" bIns="0" rtlCol="0" anchor="ctr"/>
          <a:lstStyle/>
          <a:p>
            <a:pPr indent="0" marL="0">
              <a:buNone/>
            </a:pPr>
            <a:r>
              <a:rPr lang="en-US" sz="1000" i="1" dirty="0">
                <a:solidFill>
                  <a:schemeClr val="accent6"/>
                </a:solidFill>
              </a:rPr>
              <a:t>schematisch</a:t>
            </a:r>
            <a:endParaRPr lang="en-US" sz="1000" dirty="0"/>
          </a:p>
        </p:txBody>
      </p:sp>
      <p:sp>
        <p:nvSpPr>
          <p:cNvPr id="26" name="Legenda 1"/>
          <p:cNvSpPr/>
          <p:nvPr/>
        </p:nvSpPr>
        <p:spPr>
          <a:xfrm>
            <a:off x="5440680" y="1234440"/>
            <a:ext cx="310896" cy="310896"/>
          </a:xfrm>
          <a:prstGeom prst="ellipse">
            <a:avLst/>
          </a:prstGeom>
          <a:solidFill>
            <a:schemeClr val="tx2"/>
          </a:solidFill>
          <a:ln w="12700">
            <a:solidFill>
              <a:schemeClr val="tx2"/>
            </a:solidFill>
            <a:prstDash val="solid"/>
          </a:ln>
        </p:spPr>
      </p:sp>
      <p:sp>
        <p:nvSpPr>
          <p:cNvPr id="27" name="Text 25"/>
          <p:cNvSpPr txBox="1"/>
          <p:nvPr/>
        </p:nvSpPr>
        <p:spPr>
          <a:xfrm>
            <a:off x="5440680" y="1234440"/>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28" name="Text 26"/>
          <p:cNvSpPr txBox="1"/>
          <p:nvPr/>
        </p:nvSpPr>
        <p:spPr>
          <a:xfrm>
            <a:off x="5897880" y="1234440"/>
            <a:ext cx="2834640" cy="310896"/>
          </a:xfrm>
          <a:prstGeom prst="rect">
            <a:avLst/>
          </a:prstGeom>
          <a:noFill/>
          <a:ln/>
        </p:spPr>
        <p:txBody>
          <a:bodyPr wrap="square" lIns="0" tIns="0" rIns="0" bIns="0" rtlCol="0" anchor="ctr"/>
          <a:lstStyle/>
          <a:p>
            <a:pPr indent="0" marL="0">
              <a:buNone/>
            </a:pPr>
            <a:r>
              <a:rPr lang="en-US" sz="1400" dirty="0">
                <a:solidFill>
                  <a:schemeClr val="tx1"/>
                </a:solidFill>
              </a:rPr>
              <a:t>Hoofdweg B — linker stoplicht</a:t>
            </a:r>
            <a:endParaRPr lang="en-US" sz="1400" dirty="0"/>
          </a:p>
        </p:txBody>
      </p:sp>
      <p:sp>
        <p:nvSpPr>
          <p:cNvPr id="29" name="Legenda 2"/>
          <p:cNvSpPr/>
          <p:nvPr/>
        </p:nvSpPr>
        <p:spPr>
          <a:xfrm>
            <a:off x="5440680" y="1664208"/>
            <a:ext cx="310896" cy="310896"/>
          </a:xfrm>
          <a:prstGeom prst="ellipse">
            <a:avLst/>
          </a:prstGeom>
          <a:solidFill>
            <a:schemeClr val="tx2"/>
          </a:solidFill>
          <a:ln w="12700">
            <a:solidFill>
              <a:schemeClr val="tx2"/>
            </a:solidFill>
            <a:prstDash val="solid"/>
          </a:ln>
        </p:spPr>
      </p:sp>
      <p:sp>
        <p:nvSpPr>
          <p:cNvPr id="30" name="Text 28"/>
          <p:cNvSpPr txBox="1"/>
          <p:nvPr/>
        </p:nvSpPr>
        <p:spPr>
          <a:xfrm>
            <a:off x="5440680" y="1664208"/>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31" name="Text 29"/>
          <p:cNvSpPr txBox="1"/>
          <p:nvPr/>
        </p:nvSpPr>
        <p:spPr>
          <a:xfrm>
            <a:off x="5897880" y="1664208"/>
            <a:ext cx="2834640" cy="310896"/>
          </a:xfrm>
          <a:prstGeom prst="rect">
            <a:avLst/>
          </a:prstGeom>
          <a:noFill/>
          <a:ln/>
        </p:spPr>
        <p:txBody>
          <a:bodyPr wrap="square" lIns="0" tIns="0" rIns="0" bIns="0" rtlCol="0" anchor="ctr"/>
          <a:lstStyle/>
          <a:p>
            <a:pPr indent="0" marL="0">
              <a:buNone/>
            </a:pPr>
            <a:r>
              <a:rPr lang="en-US" sz="1400" dirty="0">
                <a:solidFill>
                  <a:schemeClr val="tx1"/>
                </a:solidFill>
              </a:rPr>
              <a:t>Hoofdweg B — rechter stoplicht</a:t>
            </a:r>
            <a:endParaRPr lang="en-US" sz="1400" dirty="0"/>
          </a:p>
        </p:txBody>
      </p:sp>
      <p:sp>
        <p:nvSpPr>
          <p:cNvPr id="32" name="Legenda 3"/>
          <p:cNvSpPr/>
          <p:nvPr/>
        </p:nvSpPr>
        <p:spPr>
          <a:xfrm>
            <a:off x="5440680" y="2093976"/>
            <a:ext cx="310896" cy="310896"/>
          </a:xfrm>
          <a:prstGeom prst="ellipse">
            <a:avLst/>
          </a:prstGeom>
          <a:solidFill>
            <a:schemeClr val="tx2"/>
          </a:solidFill>
          <a:ln w="12700">
            <a:solidFill>
              <a:schemeClr val="tx2"/>
            </a:solidFill>
            <a:prstDash val="solid"/>
          </a:ln>
        </p:spPr>
      </p:sp>
      <p:sp>
        <p:nvSpPr>
          <p:cNvPr id="33" name="Text 31"/>
          <p:cNvSpPr txBox="1"/>
          <p:nvPr/>
        </p:nvSpPr>
        <p:spPr>
          <a:xfrm>
            <a:off x="5440680" y="2093976"/>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34" name="Text 32"/>
          <p:cNvSpPr txBox="1"/>
          <p:nvPr/>
        </p:nvSpPr>
        <p:spPr>
          <a:xfrm>
            <a:off x="5897880" y="2093976"/>
            <a:ext cx="2834640" cy="310896"/>
          </a:xfrm>
          <a:prstGeom prst="rect">
            <a:avLst/>
          </a:prstGeom>
          <a:noFill/>
          <a:ln/>
        </p:spPr>
        <p:txBody>
          <a:bodyPr wrap="square" lIns="0" tIns="0" rIns="0" bIns="0" rtlCol="0" anchor="ctr"/>
          <a:lstStyle/>
          <a:p>
            <a:pPr indent="0" marL="0">
              <a:buNone/>
            </a:pPr>
            <a:r>
              <a:rPr lang="en-US" sz="1400" dirty="0">
                <a:solidFill>
                  <a:schemeClr val="tx1"/>
                </a:solidFill>
              </a:rPr>
              <a:t>Zijweg rechts — linker stoplicht</a:t>
            </a:r>
            <a:endParaRPr lang="en-US" sz="1400" dirty="0"/>
          </a:p>
        </p:txBody>
      </p:sp>
      <p:sp>
        <p:nvSpPr>
          <p:cNvPr id="35" name="Legenda 4"/>
          <p:cNvSpPr/>
          <p:nvPr/>
        </p:nvSpPr>
        <p:spPr>
          <a:xfrm>
            <a:off x="5440680" y="2523744"/>
            <a:ext cx="310896" cy="310896"/>
          </a:xfrm>
          <a:prstGeom prst="ellipse">
            <a:avLst/>
          </a:prstGeom>
          <a:solidFill>
            <a:schemeClr val="tx2"/>
          </a:solidFill>
          <a:ln w="12700">
            <a:solidFill>
              <a:schemeClr val="tx2"/>
            </a:solidFill>
            <a:prstDash val="solid"/>
          </a:ln>
        </p:spPr>
      </p:sp>
      <p:sp>
        <p:nvSpPr>
          <p:cNvPr id="36" name="Text 34"/>
          <p:cNvSpPr txBox="1"/>
          <p:nvPr/>
        </p:nvSpPr>
        <p:spPr>
          <a:xfrm>
            <a:off x="5440680" y="2523744"/>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37" name="Text 35"/>
          <p:cNvSpPr txBox="1"/>
          <p:nvPr/>
        </p:nvSpPr>
        <p:spPr>
          <a:xfrm>
            <a:off x="5897880" y="2523744"/>
            <a:ext cx="2834640" cy="310896"/>
          </a:xfrm>
          <a:prstGeom prst="rect">
            <a:avLst/>
          </a:prstGeom>
          <a:noFill/>
          <a:ln/>
        </p:spPr>
        <p:txBody>
          <a:bodyPr wrap="square" lIns="0" tIns="0" rIns="0" bIns="0" rtlCol="0" anchor="ctr"/>
          <a:lstStyle/>
          <a:p>
            <a:pPr indent="0" marL="0">
              <a:buNone/>
            </a:pPr>
            <a:r>
              <a:rPr lang="en-US" sz="1400" dirty="0">
                <a:solidFill>
                  <a:schemeClr val="tx1"/>
                </a:solidFill>
              </a:rPr>
              <a:t>Zijweg rechts — rechter stoplicht</a:t>
            </a:r>
            <a:endParaRPr lang="en-US" sz="1400" dirty="0"/>
          </a:p>
        </p:txBody>
      </p:sp>
      <p:sp>
        <p:nvSpPr>
          <p:cNvPr id="38" name="Legenda 5"/>
          <p:cNvSpPr/>
          <p:nvPr/>
        </p:nvSpPr>
        <p:spPr>
          <a:xfrm>
            <a:off x="5440680" y="2953512"/>
            <a:ext cx="310896" cy="310896"/>
          </a:xfrm>
          <a:prstGeom prst="ellipse">
            <a:avLst/>
          </a:prstGeom>
          <a:solidFill>
            <a:schemeClr val="tx2"/>
          </a:solidFill>
          <a:ln w="12700">
            <a:solidFill>
              <a:schemeClr val="tx2"/>
            </a:solidFill>
            <a:prstDash val="solid"/>
          </a:ln>
        </p:spPr>
      </p:sp>
      <p:sp>
        <p:nvSpPr>
          <p:cNvPr id="39" name="Text 37"/>
          <p:cNvSpPr txBox="1"/>
          <p:nvPr/>
        </p:nvSpPr>
        <p:spPr>
          <a:xfrm>
            <a:off x="5440680" y="2953512"/>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40" name="Text 38"/>
          <p:cNvSpPr txBox="1"/>
          <p:nvPr/>
        </p:nvSpPr>
        <p:spPr>
          <a:xfrm>
            <a:off x="5897880" y="2953512"/>
            <a:ext cx="2834640" cy="310896"/>
          </a:xfrm>
          <a:prstGeom prst="rect">
            <a:avLst/>
          </a:prstGeom>
          <a:noFill/>
          <a:ln/>
        </p:spPr>
        <p:txBody>
          <a:bodyPr wrap="square" lIns="0" tIns="0" rIns="0" bIns="0" rtlCol="0" anchor="ctr"/>
          <a:lstStyle/>
          <a:p>
            <a:pPr indent="0" marL="0">
              <a:buNone/>
            </a:pPr>
            <a:r>
              <a:rPr lang="en-US" sz="1400" dirty="0">
                <a:solidFill>
                  <a:schemeClr val="tx1"/>
                </a:solidFill>
              </a:rPr>
              <a:t>Hoofdweg A — linker stoplicht</a:t>
            </a:r>
            <a:endParaRPr lang="en-US" sz="1400" dirty="0"/>
          </a:p>
        </p:txBody>
      </p:sp>
      <p:sp>
        <p:nvSpPr>
          <p:cNvPr id="41" name="Legenda 6"/>
          <p:cNvSpPr/>
          <p:nvPr/>
        </p:nvSpPr>
        <p:spPr>
          <a:xfrm>
            <a:off x="5440680" y="3383280"/>
            <a:ext cx="310896" cy="310896"/>
          </a:xfrm>
          <a:prstGeom prst="ellipse">
            <a:avLst/>
          </a:prstGeom>
          <a:solidFill>
            <a:schemeClr val="tx2"/>
          </a:solidFill>
          <a:ln w="12700">
            <a:solidFill>
              <a:schemeClr val="tx2"/>
            </a:solidFill>
            <a:prstDash val="solid"/>
          </a:ln>
        </p:spPr>
      </p:sp>
      <p:sp>
        <p:nvSpPr>
          <p:cNvPr id="42" name="Text 40"/>
          <p:cNvSpPr txBox="1"/>
          <p:nvPr/>
        </p:nvSpPr>
        <p:spPr>
          <a:xfrm>
            <a:off x="5440680" y="3383280"/>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43" name="Text 41"/>
          <p:cNvSpPr txBox="1"/>
          <p:nvPr/>
        </p:nvSpPr>
        <p:spPr>
          <a:xfrm>
            <a:off x="5897880" y="3383280"/>
            <a:ext cx="2834640" cy="310896"/>
          </a:xfrm>
          <a:prstGeom prst="rect">
            <a:avLst/>
          </a:prstGeom>
          <a:noFill/>
          <a:ln/>
        </p:spPr>
        <p:txBody>
          <a:bodyPr wrap="square" lIns="0" tIns="0" rIns="0" bIns="0" rtlCol="0" anchor="ctr"/>
          <a:lstStyle/>
          <a:p>
            <a:pPr indent="0" marL="0">
              <a:buNone/>
            </a:pPr>
            <a:r>
              <a:rPr lang="en-US" sz="1400" dirty="0">
                <a:solidFill>
                  <a:schemeClr val="tx1"/>
                </a:solidFill>
              </a:rPr>
              <a:t>Hoofdweg A — rechter stoplicht</a:t>
            </a:r>
            <a:endParaRPr lang="en-US" sz="1400" dirty="0"/>
          </a:p>
        </p:txBody>
      </p:sp>
      <p:sp>
        <p:nvSpPr>
          <p:cNvPr id="44" name="Legenda 7"/>
          <p:cNvSpPr/>
          <p:nvPr/>
        </p:nvSpPr>
        <p:spPr>
          <a:xfrm>
            <a:off x="5440680" y="3813048"/>
            <a:ext cx="310896" cy="310896"/>
          </a:xfrm>
          <a:prstGeom prst="ellipse">
            <a:avLst/>
          </a:prstGeom>
          <a:solidFill>
            <a:schemeClr val="tx2"/>
          </a:solidFill>
          <a:ln w="12700">
            <a:solidFill>
              <a:schemeClr val="tx2"/>
            </a:solidFill>
            <a:prstDash val="solid"/>
          </a:ln>
        </p:spPr>
      </p:sp>
      <p:sp>
        <p:nvSpPr>
          <p:cNvPr id="45" name="Text 43"/>
          <p:cNvSpPr txBox="1"/>
          <p:nvPr/>
        </p:nvSpPr>
        <p:spPr>
          <a:xfrm>
            <a:off x="5440680" y="3813048"/>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46" name="Text 44"/>
          <p:cNvSpPr txBox="1"/>
          <p:nvPr/>
        </p:nvSpPr>
        <p:spPr>
          <a:xfrm>
            <a:off x="5897880" y="3813048"/>
            <a:ext cx="2834640" cy="310896"/>
          </a:xfrm>
          <a:prstGeom prst="rect">
            <a:avLst/>
          </a:prstGeom>
          <a:noFill/>
          <a:ln/>
        </p:spPr>
        <p:txBody>
          <a:bodyPr wrap="square" lIns="0" tIns="0" rIns="0" bIns="0" rtlCol="0" anchor="ctr"/>
          <a:lstStyle/>
          <a:p>
            <a:pPr indent="0" marL="0">
              <a:buNone/>
            </a:pPr>
            <a:r>
              <a:rPr lang="en-US" sz="1400" dirty="0">
                <a:solidFill>
                  <a:schemeClr val="tx1"/>
                </a:solidFill>
              </a:rPr>
              <a:t>Zijweg links — linker stoplicht</a:t>
            </a:r>
            <a:endParaRPr lang="en-US" sz="1400" dirty="0"/>
          </a:p>
        </p:txBody>
      </p:sp>
      <p:sp>
        <p:nvSpPr>
          <p:cNvPr id="47" name="Legenda 8"/>
          <p:cNvSpPr/>
          <p:nvPr/>
        </p:nvSpPr>
        <p:spPr>
          <a:xfrm>
            <a:off x="5440680" y="4242816"/>
            <a:ext cx="310896" cy="310896"/>
          </a:xfrm>
          <a:prstGeom prst="ellipse">
            <a:avLst/>
          </a:prstGeom>
          <a:solidFill>
            <a:schemeClr val="tx2"/>
          </a:solidFill>
          <a:ln w="12700">
            <a:solidFill>
              <a:schemeClr val="tx2"/>
            </a:solidFill>
            <a:prstDash val="solid"/>
          </a:ln>
        </p:spPr>
      </p:sp>
      <p:sp>
        <p:nvSpPr>
          <p:cNvPr id="48" name="Text 46"/>
          <p:cNvSpPr txBox="1"/>
          <p:nvPr/>
        </p:nvSpPr>
        <p:spPr>
          <a:xfrm>
            <a:off x="5440680" y="4242816"/>
            <a:ext cx="310896" cy="310896"/>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49" name="Text 47"/>
          <p:cNvSpPr txBox="1"/>
          <p:nvPr/>
        </p:nvSpPr>
        <p:spPr>
          <a:xfrm>
            <a:off x="5897880" y="4242816"/>
            <a:ext cx="2834640" cy="310896"/>
          </a:xfrm>
          <a:prstGeom prst="rect">
            <a:avLst/>
          </a:prstGeom>
          <a:noFill/>
          <a:ln/>
        </p:spPr>
        <p:txBody>
          <a:bodyPr wrap="square" lIns="0" tIns="0" rIns="0" bIns="0" rtlCol="0" anchor="ctr"/>
          <a:lstStyle/>
          <a:p>
            <a:pPr indent="0" marL="0">
              <a:buNone/>
            </a:pPr>
            <a:r>
              <a:rPr lang="en-US" sz="1400" dirty="0">
                <a:solidFill>
                  <a:schemeClr val="tx1"/>
                </a:solidFill>
              </a:rPr>
              <a:t>Zijweg links — rechter stoplicht</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Drie ESP32's, één brein</a:t>
            </a:r>
            <a:endParaRPr lang="en-US" sz="3200" dirty="0"/>
          </a:p>
        </p:txBody>
      </p:sp>
      <p:sp>
        <p:nvSpPr>
          <p:cNvPr id="3" name="Kaart Slave 1"/>
          <p:cNvSpPr/>
          <p:nvPr/>
        </p:nvSpPr>
        <p:spPr>
          <a:xfrm>
            <a:off x="457200" y="1234440"/>
            <a:ext cx="23774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4" name="Text 2"/>
          <p:cNvSpPr txBox="1"/>
          <p:nvPr/>
        </p:nvSpPr>
        <p:spPr>
          <a:xfrm>
            <a:off x="685800" y="1371600"/>
            <a:ext cx="1920240" cy="457200"/>
          </a:xfrm>
          <a:prstGeom prst="rect">
            <a:avLst/>
          </a:prstGeom>
          <a:noFill/>
          <a:ln/>
        </p:spPr>
        <p:txBody>
          <a:bodyPr wrap="square" lIns="0" tIns="0" rIns="0" bIns="0" rtlCol="0" anchor="ctr"/>
          <a:lstStyle/>
          <a:p>
            <a:pPr indent="0" marL="0">
              <a:buNone/>
            </a:pPr>
            <a:r>
              <a:rPr lang="en-US" sz="2200" b="1" dirty="0">
                <a:solidFill>
                  <a:schemeClr val="tx1"/>
                </a:solidFill>
              </a:rPr>
              <a:t>Slave 1</a:t>
            </a:r>
            <a:endParaRPr lang="en-US" sz="2200" dirty="0"/>
          </a:p>
        </p:txBody>
      </p:sp>
      <p:sp>
        <p:nvSpPr>
          <p:cNvPr id="5" name="Text 3"/>
          <p:cNvSpPr txBox="1"/>
          <p:nvPr/>
        </p:nvSpPr>
        <p:spPr>
          <a:xfrm>
            <a:off x="685800" y="1810512"/>
            <a:ext cx="1920240" cy="320040"/>
          </a:xfrm>
          <a:prstGeom prst="rect">
            <a:avLst/>
          </a:prstGeom>
          <a:noFill/>
          <a:ln/>
        </p:spPr>
        <p:txBody>
          <a:bodyPr wrap="square" lIns="0" tIns="0" rIns="0" bIns="0" rtlCol="0" anchor="ctr"/>
          <a:lstStyle/>
          <a:p>
            <a:pPr indent="0" marL="0">
              <a:buNone/>
            </a:pPr>
            <a:r>
              <a:rPr lang="en-US" sz="1400" dirty="0">
                <a:solidFill>
                  <a:schemeClr val="accent6"/>
                </a:solidFill>
              </a:rPr>
              <a:t>Zijweg rechts</a:t>
            </a:r>
            <a:endParaRPr lang="en-US" sz="1400" dirty="0"/>
          </a:p>
        </p:txBody>
      </p:sp>
      <p:sp>
        <p:nvSpPr>
          <p:cNvPr id="6" name="Text 4"/>
          <p:cNvSpPr txBox="1"/>
          <p:nvPr/>
        </p:nvSpPr>
        <p:spPr>
          <a:xfrm>
            <a:off x="685800" y="2240280"/>
            <a:ext cx="1920240" cy="77724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Lichten 3 &amp; 4</a:t>
            </a:r>
            <a:endParaRPr lang="en-US" sz="1500" dirty="0"/>
          </a:p>
          <a:p>
            <a:pPr indent="0" marL="0">
              <a:spcAft>
                <a:spcPts val="400"/>
              </a:spcAft>
              <a:buNone/>
            </a:pPr>
            <a:r>
              <a:rPr lang="en-US" sz="1500" dirty="0">
                <a:solidFill>
                  <a:schemeClr val="tx1"/>
                </a:solidFill>
              </a:rPr>
              <a:t>Meet en voert uit</a:t>
            </a:r>
            <a:endParaRPr lang="en-US" sz="1500" dirty="0"/>
          </a:p>
        </p:txBody>
      </p:sp>
      <p:sp>
        <p:nvSpPr>
          <p:cNvPr id="7" name="Kaart Master"/>
          <p:cNvSpPr/>
          <p:nvPr/>
        </p:nvSpPr>
        <p:spPr>
          <a:xfrm>
            <a:off x="3383280" y="1234440"/>
            <a:ext cx="2377440" cy="1965960"/>
          </a:xfrm>
          <a:prstGeom prst="roundRect">
            <a:avLst>
              <a:gd name="adj" fmla="val 5581"/>
            </a:avLst>
          </a:prstGeom>
          <a:solidFill>
            <a:schemeClr val="tx1"/>
          </a:solidFill>
          <a:ln w="12700">
            <a:solidFill>
              <a:schemeClr val="tx1"/>
            </a:solidFill>
            <a:prstDash val="solid"/>
          </a:ln>
          <a:effectLst>
            <a:outerShdw sx="100000" sy="100000" kx="0" ky="0" algn="bl" rotWithShape="0" blurRad="76200" dist="25400" dir="5400000">
              <a:srgbClr val="000000">
                <a:alpha val="15000"/>
              </a:srgbClr>
            </a:outerShdw>
          </a:effectLst>
        </p:spPr>
      </p:sp>
      <p:sp>
        <p:nvSpPr>
          <p:cNvPr id="8" name="Text 6"/>
          <p:cNvSpPr txBox="1"/>
          <p:nvPr/>
        </p:nvSpPr>
        <p:spPr>
          <a:xfrm>
            <a:off x="3611880" y="1371600"/>
            <a:ext cx="1920240" cy="457200"/>
          </a:xfrm>
          <a:prstGeom prst="rect">
            <a:avLst/>
          </a:prstGeom>
          <a:noFill/>
          <a:ln/>
        </p:spPr>
        <p:txBody>
          <a:bodyPr wrap="square" lIns="0" tIns="0" rIns="0" bIns="0" rtlCol="0" anchor="ctr"/>
          <a:lstStyle/>
          <a:p>
            <a:pPr indent="0" marL="0">
              <a:buNone/>
            </a:pPr>
            <a:r>
              <a:rPr lang="en-US" sz="2200" b="1" dirty="0">
                <a:solidFill>
                  <a:schemeClr val="bg1"/>
                </a:solidFill>
              </a:rPr>
              <a:t>Master</a:t>
            </a:r>
            <a:endParaRPr lang="en-US" sz="2200" dirty="0"/>
          </a:p>
        </p:txBody>
      </p:sp>
      <p:sp>
        <p:nvSpPr>
          <p:cNvPr id="9" name="Text 7"/>
          <p:cNvSpPr txBox="1"/>
          <p:nvPr/>
        </p:nvSpPr>
        <p:spPr>
          <a:xfrm>
            <a:off x="3611880" y="1810512"/>
            <a:ext cx="1920240" cy="320040"/>
          </a:xfrm>
          <a:prstGeom prst="rect">
            <a:avLst/>
          </a:prstGeom>
          <a:noFill/>
          <a:ln/>
        </p:spPr>
        <p:txBody>
          <a:bodyPr wrap="square" lIns="0" tIns="0" rIns="0" bIns="0" rtlCol="0" anchor="ctr"/>
          <a:lstStyle/>
          <a:p>
            <a:pPr indent="0" marL="0">
              <a:buNone/>
            </a:pPr>
            <a:r>
              <a:rPr lang="en-US" sz="1400" dirty="0">
                <a:solidFill>
                  <a:schemeClr val="accent5"/>
                </a:solidFill>
              </a:rPr>
              <a:t>Hoofdweg</a:t>
            </a:r>
            <a:endParaRPr lang="en-US" sz="1400" dirty="0"/>
          </a:p>
        </p:txBody>
      </p:sp>
      <p:sp>
        <p:nvSpPr>
          <p:cNvPr id="10" name="Text 8"/>
          <p:cNvSpPr txBox="1"/>
          <p:nvPr/>
        </p:nvSpPr>
        <p:spPr>
          <a:xfrm>
            <a:off x="3611880" y="2240280"/>
            <a:ext cx="1920240" cy="777240"/>
          </a:xfrm>
          <a:prstGeom prst="rect">
            <a:avLst/>
          </a:prstGeom>
          <a:noFill/>
          <a:ln/>
        </p:spPr>
        <p:txBody>
          <a:bodyPr wrap="square" lIns="0" tIns="0" rIns="0" bIns="0" rtlCol="0" anchor="t"/>
          <a:lstStyle/>
          <a:p>
            <a:pPr indent="0" marL="0">
              <a:spcAft>
                <a:spcPts val="400"/>
              </a:spcAft>
              <a:buNone/>
            </a:pPr>
            <a:r>
              <a:rPr lang="en-US" sz="1500" dirty="0">
                <a:solidFill>
                  <a:schemeClr val="bg1"/>
                </a:solidFill>
              </a:rPr>
              <a:t>Lichten 1, 2, 5 &amp; 6</a:t>
            </a:r>
            <a:endParaRPr lang="en-US" sz="1500" dirty="0"/>
          </a:p>
          <a:p>
            <a:pPr indent="0" marL="0">
              <a:spcAft>
                <a:spcPts val="400"/>
              </a:spcAft>
              <a:buNone/>
            </a:pPr>
            <a:r>
              <a:rPr lang="en-US" sz="1500" dirty="0">
                <a:solidFill>
                  <a:schemeClr val="bg1"/>
                </a:solidFill>
              </a:rPr>
              <a:t>Meet en beslist</a:t>
            </a:r>
            <a:endParaRPr lang="en-US" sz="1500" dirty="0"/>
          </a:p>
        </p:txBody>
      </p:sp>
      <p:sp>
        <p:nvSpPr>
          <p:cNvPr id="11" name="Kaart Slave 2"/>
          <p:cNvSpPr/>
          <p:nvPr/>
        </p:nvSpPr>
        <p:spPr>
          <a:xfrm>
            <a:off x="6309360" y="1234440"/>
            <a:ext cx="2377440" cy="1965960"/>
          </a:xfrm>
          <a:prstGeom prst="roundRect">
            <a:avLst>
              <a:gd name="adj" fmla="val 5581"/>
            </a:avLst>
          </a:prstGeom>
          <a:solidFill>
            <a:schemeClr val="bg2"/>
          </a:solidFill>
          <a:ln w="12700">
            <a:solidFill>
              <a:schemeClr val="bg2"/>
            </a:solidFill>
            <a:prstDash val="solid"/>
          </a:ln>
          <a:effectLst>
            <a:outerShdw sx="100000" sy="100000" kx="0" ky="0" algn="bl" rotWithShape="0" blurRad="76200" dist="25400" dir="5400000">
              <a:srgbClr val="000000">
                <a:alpha val="15000"/>
              </a:srgbClr>
            </a:outerShdw>
          </a:effectLst>
        </p:spPr>
      </p:sp>
      <p:sp>
        <p:nvSpPr>
          <p:cNvPr id="12" name="Text 10"/>
          <p:cNvSpPr txBox="1"/>
          <p:nvPr/>
        </p:nvSpPr>
        <p:spPr>
          <a:xfrm>
            <a:off x="6537960" y="1371600"/>
            <a:ext cx="1920240" cy="457200"/>
          </a:xfrm>
          <a:prstGeom prst="rect">
            <a:avLst/>
          </a:prstGeom>
          <a:noFill/>
          <a:ln/>
        </p:spPr>
        <p:txBody>
          <a:bodyPr wrap="square" lIns="0" tIns="0" rIns="0" bIns="0" rtlCol="0" anchor="ctr"/>
          <a:lstStyle/>
          <a:p>
            <a:pPr indent="0" marL="0">
              <a:buNone/>
            </a:pPr>
            <a:r>
              <a:rPr lang="en-US" sz="2200" b="1" dirty="0">
                <a:solidFill>
                  <a:schemeClr val="tx1"/>
                </a:solidFill>
              </a:rPr>
              <a:t>Slave 2</a:t>
            </a:r>
            <a:endParaRPr lang="en-US" sz="2200" dirty="0"/>
          </a:p>
        </p:txBody>
      </p:sp>
      <p:sp>
        <p:nvSpPr>
          <p:cNvPr id="13" name="Text 11"/>
          <p:cNvSpPr txBox="1"/>
          <p:nvPr/>
        </p:nvSpPr>
        <p:spPr>
          <a:xfrm>
            <a:off x="6537960" y="1810512"/>
            <a:ext cx="1920240" cy="320040"/>
          </a:xfrm>
          <a:prstGeom prst="rect">
            <a:avLst/>
          </a:prstGeom>
          <a:noFill/>
          <a:ln/>
        </p:spPr>
        <p:txBody>
          <a:bodyPr wrap="square" lIns="0" tIns="0" rIns="0" bIns="0" rtlCol="0" anchor="ctr"/>
          <a:lstStyle/>
          <a:p>
            <a:pPr indent="0" marL="0">
              <a:buNone/>
            </a:pPr>
            <a:r>
              <a:rPr lang="en-US" sz="1400" dirty="0">
                <a:solidFill>
                  <a:schemeClr val="accent6"/>
                </a:solidFill>
              </a:rPr>
              <a:t>Zijweg links</a:t>
            </a:r>
            <a:endParaRPr lang="en-US" sz="1400" dirty="0"/>
          </a:p>
        </p:txBody>
      </p:sp>
      <p:sp>
        <p:nvSpPr>
          <p:cNvPr id="14" name="Text 12"/>
          <p:cNvSpPr txBox="1"/>
          <p:nvPr/>
        </p:nvSpPr>
        <p:spPr>
          <a:xfrm>
            <a:off x="6537960" y="2240280"/>
            <a:ext cx="1920240" cy="777240"/>
          </a:xfrm>
          <a:prstGeom prst="rect">
            <a:avLst/>
          </a:prstGeom>
          <a:noFill/>
          <a:ln/>
        </p:spPr>
        <p:txBody>
          <a:bodyPr wrap="square" lIns="0" tIns="0" rIns="0" bIns="0" rtlCol="0" anchor="t"/>
          <a:lstStyle/>
          <a:p>
            <a:pPr indent="0" marL="0">
              <a:spcAft>
                <a:spcPts val="400"/>
              </a:spcAft>
              <a:buNone/>
            </a:pPr>
            <a:r>
              <a:rPr lang="en-US" sz="1500" dirty="0">
                <a:solidFill>
                  <a:schemeClr val="tx1"/>
                </a:solidFill>
              </a:rPr>
              <a:t>Lichten 7 &amp; 8</a:t>
            </a:r>
            <a:endParaRPr lang="en-US" sz="1500" dirty="0"/>
          </a:p>
          <a:p>
            <a:pPr indent="0" marL="0">
              <a:spcAft>
                <a:spcPts val="400"/>
              </a:spcAft>
              <a:buNone/>
            </a:pPr>
            <a:r>
              <a:rPr lang="en-US" sz="1500" dirty="0">
                <a:solidFill>
                  <a:schemeClr val="tx1"/>
                </a:solidFill>
              </a:rPr>
              <a:t>Meet en voert uit</a:t>
            </a:r>
            <a:endParaRPr lang="en-US" sz="1500" dirty="0"/>
          </a:p>
        </p:txBody>
      </p:sp>
      <p:sp>
        <p:nvSpPr>
          <p:cNvPr id="15" name="Pijl 1"/>
          <p:cNvSpPr/>
          <p:nvPr/>
        </p:nvSpPr>
        <p:spPr>
          <a:xfrm>
            <a:off x="2880360" y="2212848"/>
            <a:ext cx="457200" cy="0"/>
          </a:xfrm>
          <a:prstGeom prst="line">
            <a:avLst/>
          </a:prstGeom>
          <a:noFill/>
          <a:ln w="25400">
            <a:solidFill>
              <a:schemeClr val="accent4"/>
            </a:solidFill>
            <a:prstDash val="solid"/>
            <a:headEnd type="triangle"/>
            <a:tailEnd type="triangle"/>
          </a:ln>
        </p:spPr>
      </p:sp>
      <p:sp>
        <p:nvSpPr>
          <p:cNvPr id="16" name="Pijl 2"/>
          <p:cNvSpPr/>
          <p:nvPr/>
        </p:nvSpPr>
        <p:spPr>
          <a:xfrm>
            <a:off x="5806440" y="2212848"/>
            <a:ext cx="457200" cy="0"/>
          </a:xfrm>
          <a:prstGeom prst="line">
            <a:avLst/>
          </a:prstGeom>
          <a:noFill/>
          <a:ln w="25400">
            <a:solidFill>
              <a:schemeClr val="accent4"/>
            </a:solidFill>
            <a:prstDash val="solid"/>
            <a:headEnd type="triangle"/>
            <a:tailEnd type="triangle"/>
          </a:ln>
        </p:spPr>
      </p:sp>
      <p:sp>
        <p:nvSpPr>
          <p:cNvPr id="17" name="Bericht 1"/>
          <p:cNvSpPr/>
          <p:nvPr/>
        </p:nvSpPr>
        <p:spPr>
          <a:xfrm>
            <a:off x="457200" y="3611880"/>
            <a:ext cx="274320" cy="274320"/>
          </a:xfrm>
          <a:prstGeom prst="ellipse">
            <a:avLst/>
          </a:prstGeom>
          <a:solidFill>
            <a:schemeClr val="accent4"/>
          </a:solidFill>
          <a:ln w="12700">
            <a:solidFill>
              <a:schemeClr val="accent4"/>
            </a:solidFill>
            <a:prstDash val="solid"/>
          </a:ln>
        </p:spPr>
      </p:sp>
      <p:sp>
        <p:nvSpPr>
          <p:cNvPr id="18" name="Text 16"/>
          <p:cNvSpPr txBox="1"/>
          <p:nvPr/>
        </p:nvSpPr>
        <p:spPr>
          <a:xfrm>
            <a:off x="868680" y="3520440"/>
            <a:ext cx="3474720" cy="365760"/>
          </a:xfrm>
          <a:prstGeom prst="rect">
            <a:avLst/>
          </a:prstGeom>
          <a:noFill/>
          <a:ln/>
        </p:spPr>
        <p:txBody>
          <a:bodyPr wrap="square" lIns="0" tIns="0" rIns="0" bIns="0" rtlCol="0" anchor="ctr"/>
          <a:lstStyle/>
          <a:p>
            <a:pPr indent="0" marL="0">
              <a:buNone/>
            </a:pPr>
            <a:r>
              <a:rPr lang="en-US" sz="1500" b="1" dirty="0">
                <a:solidFill>
                  <a:schemeClr val="tx1"/>
                </a:solidFill>
              </a:rPr>
              <a:t>Slave → Master</a:t>
            </a:r>
            <a:endParaRPr lang="en-US" sz="1500" dirty="0"/>
          </a:p>
        </p:txBody>
      </p:sp>
      <p:sp>
        <p:nvSpPr>
          <p:cNvPr id="19" name="Text 17"/>
          <p:cNvSpPr txBox="1"/>
          <p:nvPr/>
        </p:nvSpPr>
        <p:spPr>
          <a:xfrm>
            <a:off x="868680" y="3886200"/>
            <a:ext cx="3474720" cy="365760"/>
          </a:xfrm>
          <a:prstGeom prst="rect">
            <a:avLst/>
          </a:prstGeom>
          <a:noFill/>
          <a:ln/>
        </p:spPr>
        <p:txBody>
          <a:bodyPr wrap="square" lIns="0" tIns="0" rIns="0" bIns="0" rtlCol="0" anchor="t"/>
          <a:lstStyle/>
          <a:p>
            <a:pPr indent="0" marL="0">
              <a:buNone/>
            </a:pPr>
            <a:r>
              <a:rPr lang="en-US" sz="1400" dirty="0">
                <a:solidFill>
                  <a:schemeClr val="tx2"/>
                </a:solidFill>
              </a:rPr>
              <a:t>Welke LDR's een auto zien (elke 200 ms)</a:t>
            </a:r>
            <a:endParaRPr lang="en-US" sz="1400" dirty="0"/>
          </a:p>
        </p:txBody>
      </p:sp>
      <p:sp>
        <p:nvSpPr>
          <p:cNvPr id="20" name="Bericht 2"/>
          <p:cNvSpPr/>
          <p:nvPr/>
        </p:nvSpPr>
        <p:spPr>
          <a:xfrm>
            <a:off x="4709160" y="3611880"/>
            <a:ext cx="274320" cy="274320"/>
          </a:xfrm>
          <a:prstGeom prst="ellipse">
            <a:avLst/>
          </a:prstGeom>
          <a:solidFill>
            <a:schemeClr val="accent3"/>
          </a:solidFill>
          <a:ln w="12700">
            <a:solidFill>
              <a:schemeClr val="accent3"/>
            </a:solidFill>
            <a:prstDash val="solid"/>
          </a:ln>
        </p:spPr>
      </p:sp>
      <p:sp>
        <p:nvSpPr>
          <p:cNvPr id="21" name="Text 19"/>
          <p:cNvSpPr txBox="1"/>
          <p:nvPr/>
        </p:nvSpPr>
        <p:spPr>
          <a:xfrm>
            <a:off x="5120640" y="3520440"/>
            <a:ext cx="3474720" cy="365760"/>
          </a:xfrm>
          <a:prstGeom prst="rect">
            <a:avLst/>
          </a:prstGeom>
          <a:noFill/>
          <a:ln/>
        </p:spPr>
        <p:txBody>
          <a:bodyPr wrap="square" lIns="0" tIns="0" rIns="0" bIns="0" rtlCol="0" anchor="ctr"/>
          <a:lstStyle/>
          <a:p>
            <a:pPr indent="0" marL="0">
              <a:buNone/>
            </a:pPr>
            <a:r>
              <a:rPr lang="en-US" sz="1500" b="1" dirty="0">
                <a:solidFill>
                  <a:schemeClr val="tx1"/>
                </a:solidFill>
              </a:rPr>
              <a:t>Master → Slaves</a:t>
            </a:r>
            <a:endParaRPr lang="en-US" sz="1500" dirty="0"/>
          </a:p>
        </p:txBody>
      </p:sp>
      <p:sp>
        <p:nvSpPr>
          <p:cNvPr id="22" name="Text 20"/>
          <p:cNvSpPr txBox="1"/>
          <p:nvPr/>
        </p:nvSpPr>
        <p:spPr>
          <a:xfrm>
            <a:off x="5120640" y="3886200"/>
            <a:ext cx="3474720" cy="365760"/>
          </a:xfrm>
          <a:prstGeom prst="rect">
            <a:avLst/>
          </a:prstGeom>
          <a:noFill/>
          <a:ln/>
        </p:spPr>
        <p:txBody>
          <a:bodyPr wrap="square" lIns="0" tIns="0" rIns="0" bIns="0" rtlCol="0" anchor="t"/>
          <a:lstStyle/>
          <a:p>
            <a:pPr indent="0" marL="0">
              <a:buNone/>
            </a:pPr>
            <a:r>
              <a:rPr lang="en-US" sz="1400" dirty="0">
                <a:solidFill>
                  <a:schemeClr val="tx2"/>
                </a:solidFill>
              </a:rPr>
              <a:t>Welke lichten groen, geel of rood moeten</a:t>
            </a:r>
            <a:endParaRPr lang="en-US" sz="1400" dirty="0"/>
          </a:p>
        </p:txBody>
      </p:sp>
      <p:sp>
        <p:nvSpPr>
          <p:cNvPr id="23" name="Text 21"/>
          <p:cNvSpPr txBox="1"/>
          <p:nvPr/>
        </p:nvSpPr>
        <p:spPr>
          <a:xfrm>
            <a:off x="457200" y="4434840"/>
            <a:ext cx="5486400" cy="274320"/>
          </a:xfrm>
          <a:prstGeom prst="rect">
            <a:avLst/>
          </a:prstGeom>
          <a:noFill/>
          <a:ln/>
        </p:spPr>
        <p:txBody>
          <a:bodyPr wrap="square" lIns="0" tIns="0" rIns="0" bIns="0" rtlCol="0" anchor="ctr"/>
          <a:lstStyle/>
          <a:p>
            <a:pPr indent="0" marL="0">
              <a:buNone/>
            </a:pPr>
            <a:r>
              <a:rPr lang="en-US" sz="1200" i="1" dirty="0">
                <a:solidFill>
                  <a:schemeClr val="accent6"/>
                </a:solidFill>
              </a:rPr>
              <a:t>Draadloos via ESP-NOW — geen wifi-router nodig</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Hoe kiest de master?</a:t>
            </a:r>
            <a:endParaRPr lang="en-US" sz="3200" dirty="0"/>
          </a:p>
        </p:txBody>
      </p:sp>
      <p:sp>
        <p:nvSpPr>
          <p:cNvPr id="3" name="Combinaties kaart"/>
          <p:cNvSpPr/>
          <p:nvPr/>
        </p:nvSpPr>
        <p:spPr>
          <a:xfrm>
            <a:off x="457200" y="1234440"/>
            <a:ext cx="3017520" cy="3200400"/>
          </a:xfrm>
          <a:prstGeom prst="roundRect">
            <a:avLst>
              <a:gd name="adj" fmla="val 3636"/>
            </a:avLst>
          </a:prstGeom>
          <a:solidFill>
            <a:schemeClr val="tx1"/>
          </a:solidFill>
          <a:ln w="12700">
            <a:solidFill>
              <a:schemeClr val="tx1"/>
            </a:solidFill>
            <a:prstDash val="solid"/>
          </a:ln>
        </p:spPr>
      </p:sp>
      <p:sp>
        <p:nvSpPr>
          <p:cNvPr id="4" name="Text 2"/>
          <p:cNvSpPr txBox="1"/>
          <p:nvPr/>
        </p:nvSpPr>
        <p:spPr>
          <a:xfrm>
            <a:off x="731520" y="1417320"/>
            <a:ext cx="2560320" cy="1005840"/>
          </a:xfrm>
          <a:prstGeom prst="rect">
            <a:avLst/>
          </a:prstGeom>
          <a:noFill/>
          <a:ln/>
        </p:spPr>
        <p:txBody>
          <a:bodyPr wrap="square" lIns="0" tIns="0" rIns="0" bIns="0" rtlCol="0" anchor="ctr"/>
          <a:lstStyle/>
          <a:p>
            <a:pPr indent="0" marL="0">
              <a:buNone/>
            </a:pPr>
            <a:r>
              <a:rPr lang="en-US" sz="6600" b="1" dirty="0">
                <a:solidFill>
                  <a:schemeClr val="accent3"/>
                </a:solidFill>
              </a:rPr>
              <a:t>24</a:t>
            </a:r>
            <a:endParaRPr lang="en-US" sz="6600" dirty="0"/>
          </a:p>
        </p:txBody>
      </p:sp>
      <p:sp>
        <p:nvSpPr>
          <p:cNvPr id="5" name="Text 3"/>
          <p:cNvSpPr txBox="1"/>
          <p:nvPr/>
        </p:nvSpPr>
        <p:spPr>
          <a:xfrm>
            <a:off x="731520" y="2423160"/>
            <a:ext cx="2560320" cy="685800"/>
          </a:xfrm>
          <a:prstGeom prst="rect">
            <a:avLst/>
          </a:prstGeom>
          <a:noFill/>
          <a:ln/>
        </p:spPr>
        <p:txBody>
          <a:bodyPr wrap="square" lIns="0" tIns="0" rIns="0" bIns="0" rtlCol="0" anchor="t"/>
          <a:lstStyle/>
          <a:p>
            <a:pPr indent="0" marL="0">
              <a:buNone/>
            </a:pPr>
            <a:r>
              <a:rPr lang="en-US" sz="1500" dirty="0">
                <a:solidFill>
                  <a:schemeClr val="bg1"/>
                </a:solidFill>
              </a:rPr>
              <a:t>toegestane combinaties van lichten die tegelijk groen mogen</a:t>
            </a:r>
            <a:endParaRPr lang="en-US" sz="1500" dirty="0"/>
          </a:p>
        </p:txBody>
      </p:sp>
      <p:sp>
        <p:nvSpPr>
          <p:cNvPr id="6" name="Text 4"/>
          <p:cNvSpPr txBox="1"/>
          <p:nvPr/>
        </p:nvSpPr>
        <p:spPr>
          <a:xfrm>
            <a:off x="731520" y="3246120"/>
            <a:ext cx="2560320" cy="1005840"/>
          </a:xfrm>
          <a:prstGeom prst="rect">
            <a:avLst/>
          </a:prstGeom>
          <a:noFill/>
          <a:ln/>
        </p:spPr>
        <p:txBody>
          <a:bodyPr wrap="square" lIns="0" tIns="0" rIns="0" bIns="0" rtlCol="0" anchor="t"/>
          <a:lstStyle/>
          <a:p>
            <a:pPr indent="0" marL="0">
              <a:spcAft>
                <a:spcPts val="300"/>
              </a:spcAft>
              <a:buNone/>
            </a:pPr>
            <a:r>
              <a:rPr lang="en-US" sz="1400" dirty="0">
                <a:solidFill>
                  <a:schemeClr val="accent5"/>
                </a:solidFill>
              </a:rPr>
              <a:t>1 × vier lichten</a:t>
            </a:r>
            <a:endParaRPr lang="en-US" sz="1400" dirty="0"/>
          </a:p>
          <a:p>
            <a:pPr indent="0" marL="0">
              <a:spcAft>
                <a:spcPts val="300"/>
              </a:spcAft>
              <a:buNone/>
            </a:pPr>
            <a:r>
              <a:rPr lang="en-US" sz="1400" dirty="0">
                <a:solidFill>
                  <a:schemeClr val="accent5"/>
                </a:solidFill>
              </a:rPr>
              <a:t>8 × drie lichten</a:t>
            </a:r>
            <a:endParaRPr lang="en-US" sz="1400" dirty="0"/>
          </a:p>
          <a:p>
            <a:pPr indent="0" marL="0">
              <a:spcAft>
                <a:spcPts val="300"/>
              </a:spcAft>
              <a:buNone/>
            </a:pPr>
            <a:r>
              <a:rPr lang="en-US" sz="1400" dirty="0">
                <a:solidFill>
                  <a:schemeClr val="accent5"/>
                </a:solidFill>
              </a:rPr>
              <a:t>15 × twee lichten</a:t>
            </a:r>
            <a:endParaRPr lang="en-US" sz="1400" dirty="0"/>
          </a:p>
        </p:txBody>
      </p:sp>
      <p:sp>
        <p:nvSpPr>
          <p:cNvPr id="7" name="Stap 1"/>
          <p:cNvSpPr/>
          <p:nvPr/>
        </p:nvSpPr>
        <p:spPr>
          <a:xfrm>
            <a:off x="3840480" y="1280160"/>
            <a:ext cx="457200" cy="457200"/>
          </a:xfrm>
          <a:prstGeom prst="ellipse">
            <a:avLst/>
          </a:prstGeom>
          <a:solidFill>
            <a:schemeClr val="accent4"/>
          </a:solidFill>
          <a:ln w="12700">
            <a:solidFill>
              <a:schemeClr val="accent4"/>
            </a:solidFill>
            <a:prstDash val="solid"/>
          </a:ln>
        </p:spPr>
      </p:sp>
      <p:sp>
        <p:nvSpPr>
          <p:cNvPr id="8" name="Text 6"/>
          <p:cNvSpPr txBox="1"/>
          <p:nvPr/>
        </p:nvSpPr>
        <p:spPr>
          <a:xfrm>
            <a:off x="3840480" y="12801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9" name="Text 7"/>
          <p:cNvSpPr txBox="1"/>
          <p:nvPr/>
        </p:nvSpPr>
        <p:spPr>
          <a:xfrm>
            <a:off x="4480560" y="1234440"/>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Lees alle 8 sensoren</a:t>
            </a:r>
            <a:endParaRPr lang="en-US" sz="1700" dirty="0"/>
          </a:p>
        </p:txBody>
      </p:sp>
      <p:sp>
        <p:nvSpPr>
          <p:cNvPr id="10" name="Text 8"/>
          <p:cNvSpPr txBox="1"/>
          <p:nvPr/>
        </p:nvSpPr>
        <p:spPr>
          <a:xfrm>
            <a:off x="4480560" y="1581912"/>
            <a:ext cx="4206240" cy="347472"/>
          </a:xfrm>
          <a:prstGeom prst="rect">
            <a:avLst/>
          </a:prstGeom>
          <a:noFill/>
          <a:ln/>
        </p:spPr>
        <p:txBody>
          <a:bodyPr wrap="square" lIns="0" tIns="0" rIns="0" bIns="0" rtlCol="0" anchor="t"/>
          <a:lstStyle/>
          <a:p>
            <a:pPr indent="0" marL="0">
              <a:buNone/>
            </a:pPr>
            <a:r>
              <a:rPr lang="en-US" sz="1400" dirty="0">
                <a:solidFill>
                  <a:schemeClr val="tx2"/>
                </a:solidFill>
              </a:rPr>
              <a:t>Master leest er 4 zelf, de andere 4 komen van de slaves</a:t>
            </a:r>
            <a:endParaRPr lang="en-US" sz="1400" dirty="0"/>
          </a:p>
        </p:txBody>
      </p:sp>
      <p:sp>
        <p:nvSpPr>
          <p:cNvPr id="11" name="Stap 2"/>
          <p:cNvSpPr/>
          <p:nvPr/>
        </p:nvSpPr>
        <p:spPr>
          <a:xfrm>
            <a:off x="3840480" y="2103120"/>
            <a:ext cx="457200" cy="457200"/>
          </a:xfrm>
          <a:prstGeom prst="ellipse">
            <a:avLst/>
          </a:prstGeom>
          <a:solidFill>
            <a:schemeClr val="accent4"/>
          </a:solidFill>
          <a:ln w="12700">
            <a:solidFill>
              <a:schemeClr val="accent4"/>
            </a:solidFill>
            <a:prstDash val="solid"/>
          </a:ln>
        </p:spPr>
      </p:sp>
      <p:sp>
        <p:nvSpPr>
          <p:cNvPr id="12" name="Text 10"/>
          <p:cNvSpPr txBox="1"/>
          <p:nvPr/>
        </p:nvSpPr>
        <p:spPr>
          <a:xfrm>
            <a:off x="3840480" y="21031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1"/>
          <p:cNvSpPr txBox="1"/>
          <p:nvPr/>
        </p:nvSpPr>
        <p:spPr>
          <a:xfrm>
            <a:off x="4480560" y="2057400"/>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Kies de grootste combinatie</a:t>
            </a:r>
            <a:endParaRPr lang="en-US" sz="1700" dirty="0"/>
          </a:p>
        </p:txBody>
      </p:sp>
      <p:sp>
        <p:nvSpPr>
          <p:cNvPr id="14" name="Text 12"/>
          <p:cNvSpPr txBox="1"/>
          <p:nvPr/>
        </p:nvSpPr>
        <p:spPr>
          <a:xfrm>
            <a:off x="4480560" y="2404872"/>
            <a:ext cx="4206240" cy="347472"/>
          </a:xfrm>
          <a:prstGeom prst="rect">
            <a:avLst/>
          </a:prstGeom>
          <a:noFill/>
          <a:ln/>
        </p:spPr>
        <p:txBody>
          <a:bodyPr wrap="square" lIns="0" tIns="0" rIns="0" bIns="0" rtlCol="0" anchor="t"/>
          <a:lstStyle/>
          <a:p>
            <a:pPr indent="0" marL="0">
              <a:buNone/>
            </a:pPr>
            <a:r>
              <a:rPr lang="en-US" sz="1400" dirty="0">
                <a:solidFill>
                  <a:schemeClr val="tx2"/>
                </a:solidFill>
              </a:rPr>
              <a:t>Waarbij bij álle lichten een auto staat</a:t>
            </a:r>
            <a:endParaRPr lang="en-US" sz="1400" dirty="0"/>
          </a:p>
        </p:txBody>
      </p:sp>
      <p:sp>
        <p:nvSpPr>
          <p:cNvPr id="15" name="Stap 3"/>
          <p:cNvSpPr/>
          <p:nvPr/>
        </p:nvSpPr>
        <p:spPr>
          <a:xfrm>
            <a:off x="3840480" y="2926080"/>
            <a:ext cx="457200" cy="457200"/>
          </a:xfrm>
          <a:prstGeom prst="ellipse">
            <a:avLst/>
          </a:prstGeom>
          <a:solidFill>
            <a:schemeClr val="accent3"/>
          </a:solidFill>
          <a:ln w="12700">
            <a:solidFill>
              <a:schemeClr val="accent3"/>
            </a:solidFill>
            <a:prstDash val="solid"/>
          </a:ln>
        </p:spPr>
      </p:sp>
      <p:sp>
        <p:nvSpPr>
          <p:cNvPr id="16" name="Text 14"/>
          <p:cNvSpPr txBox="1"/>
          <p:nvPr/>
        </p:nvSpPr>
        <p:spPr>
          <a:xfrm>
            <a:off x="3840480" y="2926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7" name="Text 15"/>
          <p:cNvSpPr txBox="1"/>
          <p:nvPr/>
        </p:nvSpPr>
        <p:spPr>
          <a:xfrm>
            <a:off x="4480560" y="2880360"/>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Groen zolang het kan</a:t>
            </a:r>
            <a:endParaRPr lang="en-US" sz="1700" dirty="0"/>
          </a:p>
        </p:txBody>
      </p:sp>
      <p:sp>
        <p:nvSpPr>
          <p:cNvPr id="18" name="Text 16"/>
          <p:cNvSpPr txBox="1"/>
          <p:nvPr/>
        </p:nvSpPr>
        <p:spPr>
          <a:xfrm>
            <a:off x="4480560" y="3227832"/>
            <a:ext cx="4206240" cy="347472"/>
          </a:xfrm>
          <a:prstGeom prst="rect">
            <a:avLst/>
          </a:prstGeom>
          <a:noFill/>
          <a:ln/>
        </p:spPr>
        <p:txBody>
          <a:bodyPr wrap="square" lIns="0" tIns="0" rIns="0" bIns="0" rtlCol="0" anchor="t"/>
          <a:lstStyle/>
          <a:p>
            <a:pPr indent="0" marL="0">
              <a:buNone/>
            </a:pPr>
            <a:r>
              <a:rPr lang="en-US" sz="1400" dirty="0">
                <a:solidFill>
                  <a:schemeClr val="tx2"/>
                </a:solidFill>
              </a:rPr>
              <a:t>Min. 3 s, max. 8 s — langer zolang er auto's staan</a:t>
            </a:r>
            <a:endParaRPr lang="en-US" sz="1400" dirty="0"/>
          </a:p>
        </p:txBody>
      </p:sp>
      <p:sp>
        <p:nvSpPr>
          <p:cNvPr id="19" name="Stap 4"/>
          <p:cNvSpPr/>
          <p:nvPr/>
        </p:nvSpPr>
        <p:spPr>
          <a:xfrm>
            <a:off x="3840480" y="374904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3840480" y="374904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4480560" y="3703320"/>
            <a:ext cx="4206240" cy="347472"/>
          </a:xfrm>
          <a:prstGeom prst="rect">
            <a:avLst/>
          </a:prstGeom>
          <a:noFill/>
          <a:ln/>
        </p:spPr>
        <p:txBody>
          <a:bodyPr wrap="square" lIns="0" tIns="0" rIns="0" bIns="0" rtlCol="0" anchor="ctr"/>
          <a:lstStyle/>
          <a:p>
            <a:pPr indent="0" marL="0">
              <a:buNone/>
            </a:pPr>
            <a:r>
              <a:rPr lang="en-US" sz="1700" b="1" dirty="0">
                <a:solidFill>
                  <a:schemeClr val="tx1"/>
                </a:solidFill>
              </a:rPr>
              <a:t>Geel 2 s, rood 1 s — en opnieuw</a:t>
            </a:r>
            <a:endParaRPr lang="en-US" sz="1700" dirty="0"/>
          </a:p>
        </p:txBody>
      </p:sp>
      <p:sp>
        <p:nvSpPr>
          <p:cNvPr id="22" name="Text 20"/>
          <p:cNvSpPr txBox="1"/>
          <p:nvPr/>
        </p:nvSpPr>
        <p:spPr>
          <a:xfrm>
            <a:off x="4480560" y="4050792"/>
            <a:ext cx="4206240" cy="347472"/>
          </a:xfrm>
          <a:prstGeom prst="rect">
            <a:avLst/>
          </a:prstGeom>
          <a:noFill/>
          <a:ln/>
        </p:spPr>
        <p:txBody>
          <a:bodyPr wrap="square" lIns="0" tIns="0" rIns="0" bIns="0" rtlCol="0" anchor="t"/>
          <a:lstStyle/>
          <a:p>
            <a:pPr indent="0" marL="0">
              <a:buNone/>
            </a:pPr>
            <a:r>
              <a:rPr lang="en-US" sz="1400" dirty="0">
                <a:solidFill>
                  <a:schemeClr val="tx2"/>
                </a:solidFill>
              </a:rPr>
              <a:t>Daarna kiest de master de volgende combinatie</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tx1"/>
                </a:solidFill>
              </a:rPr>
              <a:t>Voorbeeld</a:t>
            </a:r>
            <a:endParaRPr lang="en-US" sz="3200" dirty="0"/>
          </a:p>
        </p:txBody>
      </p:sp>
      <p:sp>
        <p:nvSpPr>
          <p:cNvPr id="3" name="Text 1"/>
          <p:cNvSpPr txBox="1"/>
          <p:nvPr/>
        </p:nvSpPr>
        <p:spPr>
          <a:xfrm>
            <a:off x="457200" y="1280160"/>
            <a:ext cx="1280160" cy="320040"/>
          </a:xfrm>
          <a:prstGeom prst="rect">
            <a:avLst/>
          </a:prstGeom>
          <a:noFill/>
          <a:ln/>
        </p:spPr>
        <p:txBody>
          <a:bodyPr wrap="square" lIns="0" tIns="0" rIns="0" bIns="0" rtlCol="0" anchor="ctr"/>
          <a:lstStyle/>
          <a:p>
            <a:pPr indent="0" marL="0">
              <a:buNone/>
            </a:pPr>
            <a:r>
              <a:rPr lang="en-US" sz="1200" dirty="0">
                <a:solidFill>
                  <a:schemeClr val="accent6"/>
                </a:solidFill>
              </a:rPr>
              <a:t>Auto gezien</a:t>
            </a:r>
            <a:endParaRPr lang="en-US" sz="1200" dirty="0"/>
          </a:p>
        </p:txBody>
      </p:sp>
      <p:sp>
        <p:nvSpPr>
          <p:cNvPr id="4" name="Text 2"/>
          <p:cNvSpPr txBox="1"/>
          <p:nvPr/>
        </p:nvSpPr>
        <p:spPr>
          <a:xfrm>
            <a:off x="457200" y="1874520"/>
            <a:ext cx="1280160" cy="640080"/>
          </a:xfrm>
          <a:prstGeom prst="rect">
            <a:avLst/>
          </a:prstGeom>
          <a:noFill/>
          <a:ln/>
        </p:spPr>
        <p:txBody>
          <a:bodyPr wrap="square" lIns="0" tIns="0" rIns="0" bIns="0" rtlCol="0" anchor="ctr"/>
          <a:lstStyle/>
          <a:p>
            <a:pPr indent="0" marL="0">
              <a:buNone/>
            </a:pPr>
            <a:r>
              <a:rPr lang="en-US" sz="1200" dirty="0">
                <a:solidFill>
                  <a:schemeClr val="accent6"/>
                </a:solidFill>
              </a:rPr>
              <a:t>Licht</a:t>
            </a:r>
            <a:endParaRPr lang="en-US" sz="1200" dirty="0"/>
          </a:p>
        </p:txBody>
      </p:sp>
      <p:sp>
        <p:nvSpPr>
          <p:cNvPr id="5" name="Auto 1"/>
          <p:cNvSpPr/>
          <p:nvPr/>
        </p:nvSpPr>
        <p:spPr>
          <a:xfrm>
            <a:off x="1828800" y="1298448"/>
            <a:ext cx="548640" cy="274320"/>
          </a:xfrm>
          <a:prstGeom prst="roundRect">
            <a:avLst>
              <a:gd name="adj" fmla="val 50000"/>
            </a:avLst>
          </a:prstGeom>
          <a:solidFill>
            <a:schemeClr val="tx2"/>
          </a:solidFill>
          <a:ln w="12700">
            <a:solidFill>
              <a:schemeClr val="tx2"/>
            </a:solidFill>
            <a:prstDash val="solid"/>
          </a:ln>
        </p:spPr>
      </p:sp>
      <p:sp>
        <p:nvSpPr>
          <p:cNvPr id="6" name="Text 4"/>
          <p:cNvSpPr txBox="1"/>
          <p:nvPr/>
        </p:nvSpPr>
        <p:spPr>
          <a:xfrm>
            <a:off x="1828800" y="1298448"/>
            <a:ext cx="548640" cy="274320"/>
          </a:xfrm>
          <a:prstGeom prst="rect">
            <a:avLst/>
          </a:prstGeom>
          <a:noFill/>
          <a:ln/>
        </p:spPr>
        <p:txBody>
          <a:bodyPr wrap="square" lIns="0" tIns="0" rIns="0" bIns="0" rtlCol="0" anchor="ctr"/>
          <a:lstStyle/>
          <a:p>
            <a:pPr algn="ctr" indent="0" marL="0">
              <a:buNone/>
            </a:pPr>
            <a:r>
              <a:rPr lang="en-US" sz="1000" dirty="0">
                <a:solidFill>
                  <a:schemeClr val="bg1"/>
                </a:solidFill>
              </a:rPr>
              <a:t>auto</a:t>
            </a:r>
            <a:endParaRPr lang="en-US" sz="1000" dirty="0"/>
          </a:p>
        </p:txBody>
      </p:sp>
      <p:sp>
        <p:nvSpPr>
          <p:cNvPr id="7" name="Voorbeeld licht 1"/>
          <p:cNvSpPr/>
          <p:nvPr/>
        </p:nvSpPr>
        <p:spPr>
          <a:xfrm>
            <a:off x="1783080" y="1874520"/>
            <a:ext cx="640080" cy="640080"/>
          </a:xfrm>
          <a:prstGeom prst="ellipse">
            <a:avLst/>
          </a:prstGeom>
          <a:solidFill>
            <a:schemeClr val="accent3"/>
          </a:solidFill>
          <a:ln w="12700">
            <a:solidFill>
              <a:schemeClr val="accent3"/>
            </a:solidFill>
            <a:prstDash val="solid"/>
          </a:ln>
        </p:spPr>
      </p:sp>
      <p:sp>
        <p:nvSpPr>
          <p:cNvPr id="8" name="Text 6"/>
          <p:cNvSpPr txBox="1"/>
          <p:nvPr/>
        </p:nvSpPr>
        <p:spPr>
          <a:xfrm>
            <a:off x="178308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1</a:t>
            </a:r>
            <a:endParaRPr lang="en-US" sz="2100" dirty="0"/>
          </a:p>
        </p:txBody>
      </p:sp>
      <p:sp>
        <p:nvSpPr>
          <p:cNvPr id="9" name="Auto 2"/>
          <p:cNvSpPr/>
          <p:nvPr/>
        </p:nvSpPr>
        <p:spPr>
          <a:xfrm>
            <a:off x="2697480" y="1298448"/>
            <a:ext cx="548640" cy="274320"/>
          </a:xfrm>
          <a:prstGeom prst="roundRect">
            <a:avLst>
              <a:gd name="adj" fmla="val 50000"/>
            </a:avLst>
          </a:prstGeom>
          <a:solidFill>
            <a:schemeClr val="tx2"/>
          </a:solidFill>
          <a:ln w="12700">
            <a:solidFill>
              <a:schemeClr val="tx2"/>
            </a:solidFill>
            <a:prstDash val="solid"/>
          </a:ln>
        </p:spPr>
      </p:sp>
      <p:sp>
        <p:nvSpPr>
          <p:cNvPr id="10" name="Text 8"/>
          <p:cNvSpPr txBox="1"/>
          <p:nvPr/>
        </p:nvSpPr>
        <p:spPr>
          <a:xfrm>
            <a:off x="2697480" y="1298448"/>
            <a:ext cx="548640" cy="274320"/>
          </a:xfrm>
          <a:prstGeom prst="rect">
            <a:avLst/>
          </a:prstGeom>
          <a:noFill/>
          <a:ln/>
        </p:spPr>
        <p:txBody>
          <a:bodyPr wrap="square" lIns="0" tIns="0" rIns="0" bIns="0" rtlCol="0" anchor="ctr"/>
          <a:lstStyle/>
          <a:p>
            <a:pPr algn="ctr" indent="0" marL="0">
              <a:buNone/>
            </a:pPr>
            <a:r>
              <a:rPr lang="en-US" sz="1000" dirty="0">
                <a:solidFill>
                  <a:schemeClr val="bg1"/>
                </a:solidFill>
              </a:rPr>
              <a:t>auto</a:t>
            </a:r>
            <a:endParaRPr lang="en-US" sz="1000" dirty="0"/>
          </a:p>
        </p:txBody>
      </p:sp>
      <p:sp>
        <p:nvSpPr>
          <p:cNvPr id="11" name="Voorbeeld licht 2"/>
          <p:cNvSpPr/>
          <p:nvPr/>
        </p:nvSpPr>
        <p:spPr>
          <a:xfrm>
            <a:off x="2651760" y="1874520"/>
            <a:ext cx="640080" cy="640080"/>
          </a:xfrm>
          <a:prstGeom prst="ellipse">
            <a:avLst/>
          </a:prstGeom>
          <a:solidFill>
            <a:schemeClr val="accent1"/>
          </a:solidFill>
          <a:ln w="12700">
            <a:solidFill>
              <a:schemeClr val="accent1"/>
            </a:solidFill>
            <a:prstDash val="solid"/>
          </a:ln>
        </p:spPr>
      </p:sp>
      <p:sp>
        <p:nvSpPr>
          <p:cNvPr id="12" name="Text 10"/>
          <p:cNvSpPr txBox="1"/>
          <p:nvPr/>
        </p:nvSpPr>
        <p:spPr>
          <a:xfrm>
            <a:off x="265176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2</a:t>
            </a:r>
            <a:endParaRPr lang="en-US" sz="2100" dirty="0"/>
          </a:p>
        </p:txBody>
      </p:sp>
      <p:sp>
        <p:nvSpPr>
          <p:cNvPr id="13" name="Voorbeeld licht 3"/>
          <p:cNvSpPr/>
          <p:nvPr/>
        </p:nvSpPr>
        <p:spPr>
          <a:xfrm>
            <a:off x="3520440" y="1874520"/>
            <a:ext cx="640080" cy="640080"/>
          </a:xfrm>
          <a:prstGeom prst="ellipse">
            <a:avLst/>
          </a:prstGeom>
          <a:solidFill>
            <a:schemeClr val="accent1"/>
          </a:solidFill>
          <a:ln w="12700">
            <a:solidFill>
              <a:schemeClr val="accent1"/>
            </a:solidFill>
            <a:prstDash val="solid"/>
          </a:ln>
        </p:spPr>
      </p:sp>
      <p:sp>
        <p:nvSpPr>
          <p:cNvPr id="14" name="Text 12"/>
          <p:cNvSpPr txBox="1"/>
          <p:nvPr/>
        </p:nvSpPr>
        <p:spPr>
          <a:xfrm>
            <a:off x="352044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3</a:t>
            </a:r>
            <a:endParaRPr lang="en-US" sz="2100" dirty="0"/>
          </a:p>
        </p:txBody>
      </p:sp>
      <p:sp>
        <p:nvSpPr>
          <p:cNvPr id="15" name="Auto 4"/>
          <p:cNvSpPr/>
          <p:nvPr/>
        </p:nvSpPr>
        <p:spPr>
          <a:xfrm>
            <a:off x="4434840" y="1298448"/>
            <a:ext cx="548640" cy="274320"/>
          </a:xfrm>
          <a:prstGeom prst="roundRect">
            <a:avLst>
              <a:gd name="adj" fmla="val 50000"/>
            </a:avLst>
          </a:prstGeom>
          <a:solidFill>
            <a:schemeClr val="tx2"/>
          </a:solidFill>
          <a:ln w="12700">
            <a:solidFill>
              <a:schemeClr val="tx2"/>
            </a:solidFill>
            <a:prstDash val="solid"/>
          </a:ln>
        </p:spPr>
      </p:sp>
      <p:sp>
        <p:nvSpPr>
          <p:cNvPr id="16" name="Text 14"/>
          <p:cNvSpPr txBox="1"/>
          <p:nvPr/>
        </p:nvSpPr>
        <p:spPr>
          <a:xfrm>
            <a:off x="4434840" y="1298448"/>
            <a:ext cx="548640" cy="274320"/>
          </a:xfrm>
          <a:prstGeom prst="rect">
            <a:avLst/>
          </a:prstGeom>
          <a:noFill/>
          <a:ln/>
        </p:spPr>
        <p:txBody>
          <a:bodyPr wrap="square" lIns="0" tIns="0" rIns="0" bIns="0" rtlCol="0" anchor="ctr"/>
          <a:lstStyle/>
          <a:p>
            <a:pPr algn="ctr" indent="0" marL="0">
              <a:buNone/>
            </a:pPr>
            <a:r>
              <a:rPr lang="en-US" sz="1000" dirty="0">
                <a:solidFill>
                  <a:schemeClr val="bg1"/>
                </a:solidFill>
              </a:rPr>
              <a:t>auto</a:t>
            </a:r>
            <a:endParaRPr lang="en-US" sz="1000" dirty="0"/>
          </a:p>
        </p:txBody>
      </p:sp>
      <p:sp>
        <p:nvSpPr>
          <p:cNvPr id="17" name="Voorbeeld licht 4"/>
          <p:cNvSpPr/>
          <p:nvPr/>
        </p:nvSpPr>
        <p:spPr>
          <a:xfrm>
            <a:off x="4389120" y="1874520"/>
            <a:ext cx="640080" cy="640080"/>
          </a:xfrm>
          <a:prstGeom prst="ellipse">
            <a:avLst/>
          </a:prstGeom>
          <a:solidFill>
            <a:schemeClr val="accent3"/>
          </a:solidFill>
          <a:ln w="12700">
            <a:solidFill>
              <a:schemeClr val="accent3"/>
            </a:solidFill>
            <a:prstDash val="solid"/>
          </a:ln>
        </p:spPr>
      </p:sp>
      <p:sp>
        <p:nvSpPr>
          <p:cNvPr id="18" name="Text 16"/>
          <p:cNvSpPr txBox="1"/>
          <p:nvPr/>
        </p:nvSpPr>
        <p:spPr>
          <a:xfrm>
            <a:off x="438912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4</a:t>
            </a:r>
            <a:endParaRPr lang="en-US" sz="2100" dirty="0"/>
          </a:p>
        </p:txBody>
      </p:sp>
      <p:sp>
        <p:nvSpPr>
          <p:cNvPr id="19" name="Auto 5"/>
          <p:cNvSpPr/>
          <p:nvPr/>
        </p:nvSpPr>
        <p:spPr>
          <a:xfrm>
            <a:off x="5303520" y="1298448"/>
            <a:ext cx="548640" cy="274320"/>
          </a:xfrm>
          <a:prstGeom prst="roundRect">
            <a:avLst>
              <a:gd name="adj" fmla="val 50000"/>
            </a:avLst>
          </a:prstGeom>
          <a:solidFill>
            <a:schemeClr val="tx2"/>
          </a:solidFill>
          <a:ln w="12700">
            <a:solidFill>
              <a:schemeClr val="tx2"/>
            </a:solidFill>
            <a:prstDash val="solid"/>
          </a:ln>
        </p:spPr>
      </p:sp>
      <p:sp>
        <p:nvSpPr>
          <p:cNvPr id="20" name="Text 18"/>
          <p:cNvSpPr txBox="1"/>
          <p:nvPr/>
        </p:nvSpPr>
        <p:spPr>
          <a:xfrm>
            <a:off x="5303520" y="1298448"/>
            <a:ext cx="548640" cy="274320"/>
          </a:xfrm>
          <a:prstGeom prst="rect">
            <a:avLst/>
          </a:prstGeom>
          <a:noFill/>
          <a:ln/>
        </p:spPr>
        <p:txBody>
          <a:bodyPr wrap="square" lIns="0" tIns="0" rIns="0" bIns="0" rtlCol="0" anchor="ctr"/>
          <a:lstStyle/>
          <a:p>
            <a:pPr algn="ctr" indent="0" marL="0">
              <a:buNone/>
            </a:pPr>
            <a:r>
              <a:rPr lang="en-US" sz="1000" dirty="0">
                <a:solidFill>
                  <a:schemeClr val="bg1"/>
                </a:solidFill>
              </a:rPr>
              <a:t>auto</a:t>
            </a:r>
            <a:endParaRPr lang="en-US" sz="1000" dirty="0"/>
          </a:p>
        </p:txBody>
      </p:sp>
      <p:sp>
        <p:nvSpPr>
          <p:cNvPr id="21" name="Voorbeeld licht 5"/>
          <p:cNvSpPr/>
          <p:nvPr/>
        </p:nvSpPr>
        <p:spPr>
          <a:xfrm>
            <a:off x="5257800" y="1874520"/>
            <a:ext cx="640080" cy="640080"/>
          </a:xfrm>
          <a:prstGeom prst="ellipse">
            <a:avLst/>
          </a:prstGeom>
          <a:solidFill>
            <a:schemeClr val="accent3"/>
          </a:solidFill>
          <a:ln w="12700">
            <a:solidFill>
              <a:schemeClr val="accent3"/>
            </a:solidFill>
            <a:prstDash val="solid"/>
          </a:ln>
        </p:spPr>
      </p:sp>
      <p:sp>
        <p:nvSpPr>
          <p:cNvPr id="22" name="Text 20"/>
          <p:cNvSpPr txBox="1"/>
          <p:nvPr/>
        </p:nvSpPr>
        <p:spPr>
          <a:xfrm>
            <a:off x="525780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5</a:t>
            </a:r>
            <a:endParaRPr lang="en-US" sz="2100" dirty="0"/>
          </a:p>
        </p:txBody>
      </p:sp>
      <p:sp>
        <p:nvSpPr>
          <p:cNvPr id="23" name="Voorbeeld licht 6"/>
          <p:cNvSpPr/>
          <p:nvPr/>
        </p:nvSpPr>
        <p:spPr>
          <a:xfrm>
            <a:off x="6126480" y="1874520"/>
            <a:ext cx="640080" cy="640080"/>
          </a:xfrm>
          <a:prstGeom prst="ellipse">
            <a:avLst/>
          </a:prstGeom>
          <a:solidFill>
            <a:schemeClr val="accent1"/>
          </a:solidFill>
          <a:ln w="12700">
            <a:solidFill>
              <a:schemeClr val="accent1"/>
            </a:solidFill>
            <a:prstDash val="solid"/>
          </a:ln>
        </p:spPr>
      </p:sp>
      <p:sp>
        <p:nvSpPr>
          <p:cNvPr id="24" name="Text 22"/>
          <p:cNvSpPr txBox="1"/>
          <p:nvPr/>
        </p:nvSpPr>
        <p:spPr>
          <a:xfrm>
            <a:off x="612648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6</a:t>
            </a:r>
            <a:endParaRPr lang="en-US" sz="2100" dirty="0"/>
          </a:p>
        </p:txBody>
      </p:sp>
      <p:sp>
        <p:nvSpPr>
          <p:cNvPr id="25" name="Voorbeeld licht 7"/>
          <p:cNvSpPr/>
          <p:nvPr/>
        </p:nvSpPr>
        <p:spPr>
          <a:xfrm>
            <a:off x="6995160" y="1874520"/>
            <a:ext cx="640080" cy="640080"/>
          </a:xfrm>
          <a:prstGeom prst="ellipse">
            <a:avLst/>
          </a:prstGeom>
          <a:solidFill>
            <a:schemeClr val="accent1"/>
          </a:solidFill>
          <a:ln w="12700">
            <a:solidFill>
              <a:schemeClr val="accent1"/>
            </a:solidFill>
            <a:prstDash val="solid"/>
          </a:ln>
        </p:spPr>
      </p:sp>
      <p:sp>
        <p:nvSpPr>
          <p:cNvPr id="26" name="Text 24"/>
          <p:cNvSpPr txBox="1"/>
          <p:nvPr/>
        </p:nvSpPr>
        <p:spPr>
          <a:xfrm>
            <a:off x="699516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7</a:t>
            </a:r>
            <a:endParaRPr lang="en-US" sz="2100" dirty="0"/>
          </a:p>
        </p:txBody>
      </p:sp>
      <p:sp>
        <p:nvSpPr>
          <p:cNvPr id="27" name="Auto 8"/>
          <p:cNvSpPr/>
          <p:nvPr/>
        </p:nvSpPr>
        <p:spPr>
          <a:xfrm>
            <a:off x="7909560" y="1298448"/>
            <a:ext cx="548640" cy="274320"/>
          </a:xfrm>
          <a:prstGeom prst="roundRect">
            <a:avLst>
              <a:gd name="adj" fmla="val 50000"/>
            </a:avLst>
          </a:prstGeom>
          <a:solidFill>
            <a:schemeClr val="tx2"/>
          </a:solidFill>
          <a:ln w="12700">
            <a:solidFill>
              <a:schemeClr val="tx2"/>
            </a:solidFill>
            <a:prstDash val="solid"/>
          </a:ln>
        </p:spPr>
      </p:sp>
      <p:sp>
        <p:nvSpPr>
          <p:cNvPr id="28" name="Text 26"/>
          <p:cNvSpPr txBox="1"/>
          <p:nvPr/>
        </p:nvSpPr>
        <p:spPr>
          <a:xfrm>
            <a:off x="7909560" y="1298448"/>
            <a:ext cx="548640" cy="274320"/>
          </a:xfrm>
          <a:prstGeom prst="rect">
            <a:avLst/>
          </a:prstGeom>
          <a:noFill/>
          <a:ln/>
        </p:spPr>
        <p:txBody>
          <a:bodyPr wrap="square" lIns="0" tIns="0" rIns="0" bIns="0" rtlCol="0" anchor="ctr"/>
          <a:lstStyle/>
          <a:p>
            <a:pPr algn="ctr" indent="0" marL="0">
              <a:buNone/>
            </a:pPr>
            <a:r>
              <a:rPr lang="en-US" sz="1000" dirty="0">
                <a:solidFill>
                  <a:schemeClr val="bg1"/>
                </a:solidFill>
              </a:rPr>
              <a:t>auto</a:t>
            </a:r>
            <a:endParaRPr lang="en-US" sz="1000" dirty="0"/>
          </a:p>
        </p:txBody>
      </p:sp>
      <p:sp>
        <p:nvSpPr>
          <p:cNvPr id="29" name="Voorbeeld licht 8"/>
          <p:cNvSpPr/>
          <p:nvPr/>
        </p:nvSpPr>
        <p:spPr>
          <a:xfrm>
            <a:off x="7863840" y="1874520"/>
            <a:ext cx="640080" cy="640080"/>
          </a:xfrm>
          <a:prstGeom prst="ellipse">
            <a:avLst/>
          </a:prstGeom>
          <a:solidFill>
            <a:schemeClr val="accent3"/>
          </a:solidFill>
          <a:ln w="12700">
            <a:solidFill>
              <a:schemeClr val="accent3"/>
            </a:solidFill>
            <a:prstDash val="solid"/>
          </a:ln>
        </p:spPr>
      </p:sp>
      <p:sp>
        <p:nvSpPr>
          <p:cNvPr id="30" name="Text 28"/>
          <p:cNvSpPr txBox="1"/>
          <p:nvPr/>
        </p:nvSpPr>
        <p:spPr>
          <a:xfrm>
            <a:off x="7863840" y="187452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8</a:t>
            </a:r>
            <a:endParaRPr lang="en-US" sz="2100" dirty="0"/>
          </a:p>
        </p:txBody>
      </p:sp>
      <p:sp>
        <p:nvSpPr>
          <p:cNvPr id="31" name="Uitleg"/>
          <p:cNvSpPr/>
          <p:nvPr/>
        </p:nvSpPr>
        <p:spPr>
          <a:xfrm>
            <a:off x="457200" y="2926080"/>
            <a:ext cx="8229600" cy="1600200"/>
          </a:xfrm>
          <a:prstGeom prst="roundRect">
            <a:avLst>
              <a:gd name="adj" fmla="val 6857"/>
            </a:avLst>
          </a:prstGeom>
          <a:solidFill>
            <a:schemeClr val="bg2"/>
          </a:solidFill>
          <a:ln w="12700">
            <a:solidFill>
              <a:schemeClr val="bg2"/>
            </a:solidFill>
            <a:prstDash val="solid"/>
          </a:ln>
        </p:spPr>
      </p:sp>
      <p:sp>
        <p:nvSpPr>
          <p:cNvPr id="32" name="Text 30"/>
          <p:cNvSpPr txBox="1"/>
          <p:nvPr/>
        </p:nvSpPr>
        <p:spPr>
          <a:xfrm>
            <a:off x="731520" y="3063240"/>
            <a:ext cx="7680960" cy="1325880"/>
          </a:xfrm>
          <a:prstGeom prst="rect">
            <a:avLst/>
          </a:prstGeom>
          <a:noFill/>
          <a:ln/>
        </p:spPr>
        <p:txBody>
          <a:bodyPr wrap="square" lIns="0" tIns="0" rIns="0" bIns="0" rtlCol="0" anchor="ctr"/>
          <a:lstStyle/>
          <a:p>
            <a:pPr indent="0" marL="0">
              <a:spcAft>
                <a:spcPts val="600"/>
              </a:spcAft>
              <a:buNone/>
            </a:pPr>
            <a:r>
              <a:rPr lang="en-US" sz="1500" b="1" dirty="0">
                <a:solidFill>
                  <a:schemeClr val="tx1"/>
                </a:solidFill>
              </a:rPr>
              <a:t>Auto's bij 1, 2, 4, 5 en 8.</a:t>
            </a:r>
            <a:endParaRPr lang="en-US" sz="1500" dirty="0"/>
          </a:p>
          <a:p>
            <a:pPr indent="0" marL="0">
              <a:spcAft>
                <a:spcPts val="600"/>
              </a:spcAft>
              <a:buNone/>
            </a:pPr>
            <a:r>
              <a:rPr lang="en-US" sz="1500" dirty="0">
                <a:solidFill>
                  <a:schemeClr val="tx1"/>
                </a:solidFill>
              </a:rPr>
              <a:t>De grootste passende combinatie is {1, 4, 5, 8} — vier lichten tegelijk groen.</a:t>
            </a:r>
            <a:endParaRPr lang="en-US" sz="1500" dirty="0"/>
          </a:p>
          <a:p>
            <a:pPr indent="0" marL="0">
              <a:spcAft>
                <a:spcPts val="600"/>
              </a:spcAft>
              <a:buNone/>
            </a:pPr>
            <a:r>
              <a:rPr lang="en-US" sz="1500" dirty="0">
                <a:solidFill>
                  <a:schemeClr val="tx1"/>
                </a:solidFill>
              </a:rPr>
              <a:t>Licht 2 heeft ook een auto, maar mag niet samen met 4 en 5. Die wacht op de volgende ronde.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200" b="1" dirty="0">
                <a:solidFill>
                  <a:schemeClr val="bg1"/>
                </a:solidFill>
              </a:rPr>
              <a:t>Waar staan we?</a:t>
            </a:r>
            <a:endParaRPr lang="en-US" sz="3200" dirty="0"/>
          </a:p>
        </p:txBody>
      </p:sp>
      <p:sp>
        <p:nvSpPr>
          <p:cNvPr id="3" name="Kolom Werkt"/>
          <p:cNvSpPr/>
          <p:nvPr/>
        </p:nvSpPr>
        <p:spPr>
          <a:xfrm>
            <a:off x="457200" y="1234440"/>
            <a:ext cx="2560320" cy="3108960"/>
          </a:xfrm>
          <a:prstGeom prst="roundRect">
            <a:avLst>
              <a:gd name="adj" fmla="val 4286"/>
            </a:avLst>
          </a:prstGeom>
          <a:solidFill>
            <a:schemeClr val="tx2"/>
          </a:solidFill>
          <a:ln w="12700">
            <a:solidFill>
              <a:schemeClr val="tx2"/>
            </a:solidFill>
            <a:prstDash val="solid"/>
          </a:ln>
        </p:spPr>
      </p:sp>
      <p:sp>
        <p:nvSpPr>
          <p:cNvPr id="4" name="Lamp Werkt"/>
          <p:cNvSpPr/>
          <p:nvPr/>
        </p:nvSpPr>
        <p:spPr>
          <a:xfrm>
            <a:off x="685800" y="1463040"/>
            <a:ext cx="365760" cy="365760"/>
          </a:xfrm>
          <a:prstGeom prst="ellipse">
            <a:avLst/>
          </a:prstGeom>
          <a:solidFill>
            <a:schemeClr val="accent3"/>
          </a:solidFill>
          <a:ln w="12700">
            <a:solidFill>
              <a:schemeClr val="accent3"/>
            </a:solidFill>
            <a:prstDash val="solid"/>
          </a:ln>
        </p:spPr>
      </p:sp>
      <p:sp>
        <p:nvSpPr>
          <p:cNvPr id="5" name="Text 3"/>
          <p:cNvSpPr txBox="1"/>
          <p:nvPr/>
        </p:nvSpPr>
        <p:spPr>
          <a:xfrm>
            <a:off x="1188720" y="1463040"/>
            <a:ext cx="1691640" cy="365760"/>
          </a:xfrm>
          <a:prstGeom prst="rect">
            <a:avLst/>
          </a:prstGeom>
          <a:noFill/>
          <a:ln/>
        </p:spPr>
        <p:txBody>
          <a:bodyPr wrap="square" lIns="0" tIns="0" rIns="0" bIns="0" rtlCol="0" anchor="ctr"/>
          <a:lstStyle/>
          <a:p>
            <a:pPr indent="0" marL="0">
              <a:buNone/>
            </a:pPr>
            <a:r>
              <a:rPr lang="en-US" sz="1900" b="1" dirty="0">
                <a:solidFill>
                  <a:schemeClr val="bg1"/>
                </a:solidFill>
              </a:rPr>
              <a:t>Werkt</a:t>
            </a:r>
            <a:endParaRPr lang="en-US" sz="1900" dirty="0"/>
          </a:p>
        </p:txBody>
      </p:sp>
      <p:sp>
        <p:nvSpPr>
          <p:cNvPr id="6" name="Text 4"/>
          <p:cNvSpPr txBox="1"/>
          <p:nvPr/>
        </p:nvSpPr>
        <p:spPr>
          <a:xfrm>
            <a:off x="685800" y="205740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ESP-NOW tussen de boards</a:t>
            </a:r>
            <a:endParaRPr lang="en-US" sz="1400" dirty="0"/>
          </a:p>
          <a:p>
            <a:pPr marL="177800" indent="-177800">
              <a:spcAft>
                <a:spcPts val="800"/>
              </a:spcAft>
              <a:buSzPct val="100000"/>
              <a:buChar char="•"/>
            </a:pPr>
            <a:r>
              <a:rPr lang="en-US" sz="1400" dirty="0">
                <a:solidFill>
                  <a:schemeClr val="bg2"/>
                </a:solidFill>
              </a:rPr>
              <a:t>Pinout van alle 3 de boards</a:t>
            </a:r>
            <a:endParaRPr lang="en-US" sz="1400" dirty="0"/>
          </a:p>
          <a:p>
            <a:pPr marL="177800" indent="-177800">
              <a:spcAft>
                <a:spcPts val="800"/>
              </a:spcAft>
              <a:buSzPct val="100000"/>
              <a:buChar char="•"/>
            </a:pPr>
            <a:r>
              <a:rPr lang="en-US" sz="1400" dirty="0">
                <a:solidFill>
                  <a:schemeClr val="bg2"/>
                </a:solidFill>
              </a:rPr>
              <a:t>Regel-logica met 24 combinaties</a:t>
            </a:r>
            <a:endParaRPr lang="en-US" sz="1400" dirty="0"/>
          </a:p>
        </p:txBody>
      </p:sp>
      <p:sp>
        <p:nvSpPr>
          <p:cNvPr id="7" name="Kolom Uitdagingen"/>
          <p:cNvSpPr/>
          <p:nvPr/>
        </p:nvSpPr>
        <p:spPr>
          <a:xfrm>
            <a:off x="3291840" y="1234440"/>
            <a:ext cx="2560320" cy="3108960"/>
          </a:xfrm>
          <a:prstGeom prst="roundRect">
            <a:avLst>
              <a:gd name="adj" fmla="val 4286"/>
            </a:avLst>
          </a:prstGeom>
          <a:solidFill>
            <a:schemeClr val="tx2"/>
          </a:solidFill>
          <a:ln w="12700">
            <a:solidFill>
              <a:schemeClr val="tx2"/>
            </a:solidFill>
            <a:prstDash val="solid"/>
          </a:ln>
        </p:spPr>
      </p:sp>
      <p:sp>
        <p:nvSpPr>
          <p:cNvPr id="8" name="Lamp Uitdagingen"/>
          <p:cNvSpPr/>
          <p:nvPr/>
        </p:nvSpPr>
        <p:spPr>
          <a:xfrm>
            <a:off x="3520440" y="1463040"/>
            <a:ext cx="365760" cy="365760"/>
          </a:xfrm>
          <a:prstGeom prst="ellipse">
            <a:avLst/>
          </a:prstGeom>
          <a:solidFill>
            <a:schemeClr val="accent2"/>
          </a:solidFill>
          <a:ln w="12700">
            <a:solidFill>
              <a:schemeClr val="accent2"/>
            </a:solidFill>
            <a:prstDash val="solid"/>
          </a:ln>
        </p:spPr>
      </p:sp>
      <p:sp>
        <p:nvSpPr>
          <p:cNvPr id="9" name="Text 7"/>
          <p:cNvSpPr txBox="1"/>
          <p:nvPr/>
        </p:nvSpPr>
        <p:spPr>
          <a:xfrm>
            <a:off x="4023360" y="1463040"/>
            <a:ext cx="1691640" cy="365760"/>
          </a:xfrm>
          <a:prstGeom prst="rect">
            <a:avLst/>
          </a:prstGeom>
          <a:noFill/>
          <a:ln/>
        </p:spPr>
        <p:txBody>
          <a:bodyPr wrap="square" lIns="0" tIns="0" rIns="0" bIns="0" rtlCol="0" anchor="ctr"/>
          <a:lstStyle/>
          <a:p>
            <a:pPr indent="0" marL="0">
              <a:buNone/>
            </a:pPr>
            <a:r>
              <a:rPr lang="en-US" sz="1900" b="1" dirty="0">
                <a:solidFill>
                  <a:schemeClr val="bg1"/>
                </a:solidFill>
              </a:rPr>
              <a:t>Uitdagingen</a:t>
            </a:r>
            <a:endParaRPr lang="en-US" sz="1900" dirty="0"/>
          </a:p>
        </p:txBody>
      </p:sp>
      <p:sp>
        <p:nvSpPr>
          <p:cNvPr id="10" name="Text 8"/>
          <p:cNvSpPr txBox="1"/>
          <p:nvPr/>
        </p:nvSpPr>
        <p:spPr>
          <a:xfrm>
            <a:off x="3520440" y="205740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LDR-drempel nog afstellen</a:t>
            </a:r>
            <a:endParaRPr lang="en-US" sz="1400" dirty="0"/>
          </a:p>
          <a:p>
            <a:pPr marL="177800" indent="-177800">
              <a:spcAft>
                <a:spcPts val="800"/>
              </a:spcAft>
              <a:buSzPct val="100000"/>
              <a:buChar char="•"/>
            </a:pPr>
            <a:r>
              <a:rPr lang="en-US" sz="1400" dirty="0">
                <a:solidFill>
                  <a:schemeClr val="bg2"/>
                </a:solidFill>
              </a:rPr>
              <a:t>GPIO12 geeft opstartproblemen</a:t>
            </a:r>
            <a:endParaRPr lang="en-US" sz="1400" dirty="0"/>
          </a:p>
          <a:p>
            <a:pPr marL="177800" indent="-177800">
              <a:spcAft>
                <a:spcPts val="800"/>
              </a:spcAft>
              <a:buSzPct val="100000"/>
              <a:buChar char="•"/>
            </a:pPr>
            <a:r>
              <a:rPr lang="en-US" sz="1400" dirty="0">
                <a:solidFill>
                  <a:schemeClr val="bg2"/>
                </a:solidFill>
              </a:rPr>
              <a:t>Lichten bleven bij test hangen</a:t>
            </a:r>
            <a:endParaRPr lang="en-US" sz="1400" dirty="0"/>
          </a:p>
        </p:txBody>
      </p:sp>
      <p:sp>
        <p:nvSpPr>
          <p:cNvPr id="11" name="Kolom Volgende stap"/>
          <p:cNvSpPr/>
          <p:nvPr/>
        </p:nvSpPr>
        <p:spPr>
          <a:xfrm>
            <a:off x="6126480" y="1234440"/>
            <a:ext cx="2560320" cy="3108960"/>
          </a:xfrm>
          <a:prstGeom prst="roundRect">
            <a:avLst>
              <a:gd name="adj" fmla="val 4286"/>
            </a:avLst>
          </a:prstGeom>
          <a:solidFill>
            <a:schemeClr val="tx2"/>
          </a:solidFill>
          <a:ln w="12700">
            <a:solidFill>
              <a:schemeClr val="tx2"/>
            </a:solidFill>
            <a:prstDash val="solid"/>
          </a:ln>
        </p:spPr>
      </p:sp>
      <p:sp>
        <p:nvSpPr>
          <p:cNvPr id="12" name="Lamp Volgende stap"/>
          <p:cNvSpPr/>
          <p:nvPr/>
        </p:nvSpPr>
        <p:spPr>
          <a:xfrm>
            <a:off x="6355080" y="146304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6858000" y="1463040"/>
            <a:ext cx="1691640" cy="365760"/>
          </a:xfrm>
          <a:prstGeom prst="rect">
            <a:avLst/>
          </a:prstGeom>
          <a:noFill/>
          <a:ln/>
        </p:spPr>
        <p:txBody>
          <a:bodyPr wrap="square" lIns="0" tIns="0" rIns="0" bIns="0" rtlCol="0" anchor="ctr"/>
          <a:lstStyle/>
          <a:p>
            <a:pPr indent="0" marL="0">
              <a:buNone/>
            </a:pPr>
            <a:r>
              <a:rPr lang="en-US" sz="1900" b="1" dirty="0">
                <a:solidFill>
                  <a:schemeClr val="bg1"/>
                </a:solidFill>
              </a:rPr>
              <a:t>Volgende stap</a:t>
            </a:r>
            <a:endParaRPr lang="en-US" sz="1900" dirty="0"/>
          </a:p>
        </p:txBody>
      </p:sp>
      <p:sp>
        <p:nvSpPr>
          <p:cNvPr id="14" name="Text 12"/>
          <p:cNvSpPr txBox="1"/>
          <p:nvPr/>
        </p:nvSpPr>
        <p:spPr>
          <a:xfrm>
            <a:off x="6355080" y="2057400"/>
            <a:ext cx="2148840" cy="21031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chemeClr val="bg2"/>
                </a:solidFill>
              </a:rPr>
              <a:t>Testen op de maquette</a:t>
            </a:r>
            <a:endParaRPr lang="en-US" sz="1400" dirty="0"/>
          </a:p>
          <a:p>
            <a:pPr marL="177800" indent="-177800">
              <a:spcAft>
                <a:spcPts val="800"/>
              </a:spcAft>
              <a:buSzPct val="100000"/>
              <a:buChar char="•"/>
            </a:pPr>
            <a:r>
              <a:rPr lang="en-US" sz="1400" dirty="0">
                <a:solidFill>
                  <a:schemeClr val="bg2"/>
                </a:solidFill>
              </a:rPr>
              <a:t>Drempel per sensor kalibreren</a:t>
            </a:r>
            <a:endParaRPr lang="en-US" sz="1400" dirty="0"/>
          </a:p>
          <a:p>
            <a:pPr marL="177800" indent="-177800">
              <a:spcAft>
                <a:spcPts val="800"/>
              </a:spcAft>
              <a:buSzPct val="100000"/>
              <a:buChar char="•"/>
            </a:pPr>
            <a:r>
              <a:rPr lang="en-US" sz="1400" dirty="0">
                <a:solidFill>
                  <a:schemeClr val="bg2"/>
                </a:solidFill>
              </a:rPr>
              <a:t>Problematische pins omzetten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lim Kruispunt">
  <a:themeElements>
    <a:clrScheme name="Slim Kruispunt">
      <a:dk1>
        <a:srgbClr val="1B1F24"/>
      </a:dk1>
      <a:lt1>
        <a:srgbClr val="FFFFFF"/>
      </a:lt1>
      <a:dk2>
        <a:srgbClr val="2E353D"/>
      </a:dk2>
      <a:lt2>
        <a:srgbClr val="F1F3F5"/>
      </a:lt2>
      <a:accent1>
        <a:srgbClr val="E63946"/>
      </a:accent1>
      <a:accent2>
        <a:srgbClr val="FFB703"/>
      </a:accent2>
      <a:accent3>
        <a:srgbClr val="2DC653"/>
      </a:accent3>
      <a:accent4>
        <a:srgbClr val="3A86C8"/>
      </a:accent4>
      <a:accent5>
        <a:srgbClr val="8D99AE"/>
      </a:accent5>
      <a:accent6>
        <a:srgbClr val="5C6773"/>
      </a:accent6>
      <a:hlink>
        <a:srgbClr val="3A86C8"/>
      </a:hlink>
      <a:folHlink>
        <a:srgbClr val="5C6773"/>
      </a:folHlink>
    </a:clrScheme>
    <a:fontScheme name="Slim Kruispun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Slim Kruispunt</dc:title>
  <dc:subject>PptxGenJS Presentation</dc:subject>
  <dc:creator>PptxGenJS</dc:creator>
  <cp:lastModifiedBy>PptxGenJS</cp:lastModifiedBy>
  <cp:revision>1</cp:revision>
  <dcterms:created xsi:type="dcterms:W3CDTF">2026-10-06T09:08:48Z</dcterms:created>
  <dcterms:modified xsi:type="dcterms:W3CDTF">2026-10-06T09:08:48Z</dcterms:modified>
</cp:coreProperties>
</file>